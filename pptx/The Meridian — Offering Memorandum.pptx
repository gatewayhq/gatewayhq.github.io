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3A5C">
              <a:alpha val="65000"/>
            </a:srgbClr>
          </a:solidFill>
          <a:ln/>
        </p:spPr>
      </p:sp>
      <p:sp>
        <p:nvSpPr>
          <p:cNvPr id="3" name="Shape 1"/>
          <p:cNvSpPr/>
          <p:nvPr/>
        </p:nvSpPr>
        <p:spPr>
          <a:xfrm>
            <a:off x="0" y="5029200"/>
            <a:ext cx="12188952" cy="1828800"/>
          </a:xfrm>
          <a:prstGeom prst="rect">
            <a:avLst/>
          </a:prstGeom>
          <a:solidFill>
            <a:srgbClr val="1B3A5C"/>
          </a:solidFill>
          <a:ln/>
        </p:spPr>
      </p:sp>
      <p:sp>
        <p:nvSpPr>
          <p:cNvPr id="4" name="Text 2"/>
          <p:cNvSpPr/>
          <p:nvPr/>
        </p:nvSpPr>
        <p:spPr>
          <a:xfrm>
            <a:off x="558800" y="863600"/>
            <a:ext cx="4572000" cy="203200"/>
          </a:xfrm>
          <a:prstGeom prst="rect">
            <a:avLst/>
          </a:prstGeom>
          <a:noFill/>
          <a:ln/>
        </p:spPr>
        <p:txBody>
          <a:bodyPr wrap="square" rtlCol="0" anchor="ctr"/>
          <a:lstStyle/>
          <a:p>
            <a:pPr indent="0" marL="0">
              <a:buNone/>
            </a:pPr>
            <a:r>
              <a:rPr lang="en-US" sz="900" spc="200" kern="0" dirty="0">
                <a:solidFill>
                  <a:srgbClr val="C9A84C"/>
                </a:solidFill>
                <a:latin typeface="Calibri" pitchFamily="34" charset="0"/>
                <a:ea typeface="Calibri" pitchFamily="34" charset="-122"/>
                <a:cs typeface="Calibri" pitchFamily="34" charset="-120"/>
              </a:rPr>
              <a:t>CONFIDENTIAL OFFERING MEMORANDUM</a:t>
            </a:r>
            <a:endParaRPr lang="en-US" sz="900" dirty="0"/>
          </a:p>
        </p:txBody>
      </p:sp>
      <p:sp>
        <p:nvSpPr>
          <p:cNvPr id="5" name="Shape 3"/>
          <p:cNvSpPr/>
          <p:nvPr/>
        </p:nvSpPr>
        <p:spPr>
          <a:xfrm>
            <a:off x="558800" y="5080000"/>
            <a:ext cx="3657600" cy="36576"/>
          </a:xfrm>
          <a:prstGeom prst="rect">
            <a:avLst/>
          </a:prstGeom>
          <a:solidFill>
            <a:srgbClr val="C9A84C"/>
          </a:solidFill>
          <a:ln w="12700">
            <a:solidFill>
              <a:srgbClr val="C9A84C"/>
            </a:solidFill>
            <a:prstDash val="solid"/>
          </a:ln>
        </p:spPr>
      </p:sp>
      <p:sp>
        <p:nvSpPr>
          <p:cNvPr id="6" name="Text 4"/>
          <p:cNvSpPr/>
          <p:nvPr/>
        </p:nvSpPr>
        <p:spPr>
          <a:xfrm>
            <a:off x="558800" y="5181600"/>
            <a:ext cx="10515600" cy="965200"/>
          </a:xfrm>
          <a:prstGeom prst="rect">
            <a:avLst/>
          </a:prstGeom>
          <a:noFill/>
          <a:ln/>
        </p:spPr>
        <p:txBody>
          <a:bodyPr wrap="square" rtlCol="0" anchor="ctr">
            <a:normAutofit/>
          </a:bodyPr>
          <a:lstStyle/>
          <a:p>
            <a:pPr indent="0" marL="0">
              <a:buNone/>
            </a:pPr>
            <a:r>
              <a:rPr lang="en-US" sz="4000" b="1" dirty="0">
                <a:solidFill>
                  <a:srgbClr val="FFFFFF"/>
                </a:solidFill>
                <a:latin typeface="Georgia" pitchFamily="34" charset="0"/>
                <a:ea typeface="Georgia" pitchFamily="34" charset="-122"/>
                <a:cs typeface="Georgia" pitchFamily="34" charset="-120"/>
              </a:rPr>
              <a:t>The Meridian</a:t>
            </a:r>
            <a:endParaRPr lang="en-US" sz="4000" dirty="0"/>
          </a:p>
        </p:txBody>
      </p:sp>
      <p:sp>
        <p:nvSpPr>
          <p:cNvPr id="7" name="Text 5"/>
          <p:cNvSpPr/>
          <p:nvPr/>
        </p:nvSpPr>
        <p:spPr>
          <a:xfrm>
            <a:off x="558800" y="6197600"/>
            <a:ext cx="6400800" cy="254000"/>
          </a:xfrm>
          <a:prstGeom prst="rect">
            <a:avLst/>
          </a:prstGeom>
          <a:noFill/>
          <a:ln/>
        </p:spPr>
        <p:txBody>
          <a:bodyPr wrap="square" rtlCol="0" anchor="ctr"/>
          <a:lstStyle/>
          <a:p>
            <a:pPr indent="0" marL="0">
              <a:buNone/>
            </a:pPr>
            <a:r>
              <a:rPr lang="en-US" sz="1300" dirty="0">
                <a:solidFill>
                  <a:srgbClr val="C0CCDA"/>
                </a:solidFill>
                <a:latin typeface="Calibri" pitchFamily="34" charset="0"/>
                <a:ea typeface="Calibri" pitchFamily="34" charset="-122"/>
                <a:cs typeface="Calibri" pitchFamily="34" charset="-120"/>
              </a:rPr>
              <a:t>1234 Commerce Street, Denver, CO 80202</a:t>
            </a:r>
            <a:endParaRPr lang="en-US" sz="1300" dirty="0"/>
          </a:p>
        </p:txBody>
      </p:sp>
      <p:sp>
        <p:nvSpPr>
          <p:cNvPr id="8" name="Shape 6"/>
          <p:cNvSpPr/>
          <p:nvPr/>
        </p:nvSpPr>
        <p:spPr>
          <a:xfrm>
            <a:off x="8229600" y="5181600"/>
            <a:ext cx="1625600" cy="711200"/>
          </a:xfrm>
          <a:prstGeom prst="rect">
            <a:avLst/>
          </a:prstGeom>
          <a:solidFill>
            <a:srgbClr val="152D48"/>
          </a:solidFill>
          <a:ln w="12700">
            <a:solidFill>
              <a:srgbClr val="243F63"/>
            </a:solidFill>
            <a:prstDash val="solid"/>
          </a:ln>
        </p:spPr>
      </p:sp>
      <p:sp>
        <p:nvSpPr>
          <p:cNvPr id="9" name="Shape 7"/>
          <p:cNvSpPr/>
          <p:nvPr/>
        </p:nvSpPr>
        <p:spPr>
          <a:xfrm>
            <a:off x="8229600" y="5181600"/>
            <a:ext cx="1625600" cy="36576"/>
          </a:xfrm>
          <a:prstGeom prst="rect">
            <a:avLst/>
          </a:prstGeom>
          <a:solidFill>
            <a:srgbClr val="C9A84C"/>
          </a:solidFill>
          <a:ln w="12700">
            <a:solidFill>
              <a:srgbClr val="C9A84C"/>
            </a:solidFill>
            <a:prstDash val="solid"/>
          </a:ln>
        </p:spPr>
      </p:sp>
      <p:sp>
        <p:nvSpPr>
          <p:cNvPr id="10" name="Text 8"/>
          <p:cNvSpPr/>
          <p:nvPr/>
        </p:nvSpPr>
        <p:spPr>
          <a:xfrm>
            <a:off x="8339328" y="5254752"/>
            <a:ext cx="1406144" cy="4064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$9.20M</a:t>
            </a:r>
            <a:endParaRPr lang="en-US" sz="1800" dirty="0"/>
          </a:p>
        </p:txBody>
      </p:sp>
      <p:sp>
        <p:nvSpPr>
          <p:cNvPr id="11" name="Text 9"/>
          <p:cNvSpPr/>
          <p:nvPr/>
        </p:nvSpPr>
        <p:spPr>
          <a:xfrm>
            <a:off x="8339328" y="5638800"/>
            <a:ext cx="1406144" cy="203200"/>
          </a:xfrm>
          <a:prstGeom prst="rect">
            <a:avLst/>
          </a:prstGeom>
          <a:noFill/>
          <a:ln/>
        </p:spPr>
        <p:txBody>
          <a:bodyPr wrap="square" rtlCol="0" anchor="t"/>
          <a:lstStyle/>
          <a:p>
            <a:pPr algn="ctr" indent="0" marL="0">
              <a:buNone/>
            </a:pPr>
            <a:r>
              <a:rPr lang="en-US" sz="1100" spc="50" kern="0" dirty="0">
                <a:solidFill>
                  <a:srgbClr val="A0B4C8"/>
                </a:solidFill>
                <a:latin typeface="Calibri" pitchFamily="34" charset="0"/>
                <a:ea typeface="Calibri" pitchFamily="34" charset="-122"/>
                <a:cs typeface="Calibri" pitchFamily="34" charset="-120"/>
              </a:rPr>
              <a:t>ASKING PRICE</a:t>
            </a:r>
            <a:endParaRPr lang="en-US" sz="1100" dirty="0"/>
          </a:p>
        </p:txBody>
      </p:sp>
      <p:sp>
        <p:nvSpPr>
          <p:cNvPr id="12" name="Shape 10"/>
          <p:cNvSpPr/>
          <p:nvPr/>
        </p:nvSpPr>
        <p:spPr>
          <a:xfrm>
            <a:off x="10109200" y="5181600"/>
            <a:ext cx="1625600" cy="711200"/>
          </a:xfrm>
          <a:prstGeom prst="rect">
            <a:avLst/>
          </a:prstGeom>
          <a:solidFill>
            <a:srgbClr val="152D48"/>
          </a:solidFill>
          <a:ln w="12700">
            <a:solidFill>
              <a:srgbClr val="243F63"/>
            </a:solidFill>
            <a:prstDash val="solid"/>
          </a:ln>
        </p:spPr>
      </p:sp>
      <p:sp>
        <p:nvSpPr>
          <p:cNvPr id="13" name="Shape 11"/>
          <p:cNvSpPr/>
          <p:nvPr/>
        </p:nvSpPr>
        <p:spPr>
          <a:xfrm>
            <a:off x="10109200" y="5181600"/>
            <a:ext cx="1625600" cy="36576"/>
          </a:xfrm>
          <a:prstGeom prst="rect">
            <a:avLst/>
          </a:prstGeom>
          <a:solidFill>
            <a:srgbClr val="C9A84C"/>
          </a:solidFill>
          <a:ln w="12700">
            <a:solidFill>
              <a:srgbClr val="C9A84C"/>
            </a:solidFill>
            <a:prstDash val="solid"/>
          </a:ln>
        </p:spPr>
      </p:sp>
      <p:sp>
        <p:nvSpPr>
          <p:cNvPr id="14" name="Text 12"/>
          <p:cNvSpPr/>
          <p:nvPr/>
        </p:nvSpPr>
        <p:spPr>
          <a:xfrm>
            <a:off x="10218928" y="5254752"/>
            <a:ext cx="1406144" cy="4064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48</a:t>
            </a:r>
            <a:endParaRPr lang="en-US" sz="1800" dirty="0"/>
          </a:p>
        </p:txBody>
      </p:sp>
      <p:sp>
        <p:nvSpPr>
          <p:cNvPr id="15" name="Text 13"/>
          <p:cNvSpPr/>
          <p:nvPr/>
        </p:nvSpPr>
        <p:spPr>
          <a:xfrm>
            <a:off x="10218928" y="5638800"/>
            <a:ext cx="1406144" cy="203200"/>
          </a:xfrm>
          <a:prstGeom prst="rect">
            <a:avLst/>
          </a:prstGeom>
          <a:noFill/>
          <a:ln/>
        </p:spPr>
        <p:txBody>
          <a:bodyPr wrap="square" rtlCol="0" anchor="t"/>
          <a:lstStyle/>
          <a:p>
            <a:pPr algn="ctr" indent="0" marL="0">
              <a:buNone/>
            </a:pPr>
            <a:r>
              <a:rPr lang="en-US" sz="1100" spc="50" kern="0" dirty="0">
                <a:solidFill>
                  <a:srgbClr val="A0B4C8"/>
                </a:solidFill>
                <a:latin typeface="Calibri" pitchFamily="34" charset="0"/>
                <a:ea typeface="Calibri" pitchFamily="34" charset="-122"/>
                <a:cs typeface="Calibri" pitchFamily="34" charset="-120"/>
              </a:rPr>
              <a:t>TOTAL UNITS</a:t>
            </a:r>
            <a:endParaRPr lang="en-US" sz="1100" dirty="0"/>
          </a:p>
        </p:txBody>
      </p:sp>
      <p:sp>
        <p:nvSpPr>
          <p:cNvPr id="16" name="Shape 14"/>
          <p:cNvSpPr/>
          <p:nvPr/>
        </p:nvSpPr>
        <p:spPr>
          <a:xfrm>
            <a:off x="8229600" y="5994400"/>
            <a:ext cx="1625600" cy="711200"/>
          </a:xfrm>
          <a:prstGeom prst="rect">
            <a:avLst/>
          </a:prstGeom>
          <a:solidFill>
            <a:srgbClr val="152D48"/>
          </a:solidFill>
          <a:ln w="12700">
            <a:solidFill>
              <a:srgbClr val="243F63"/>
            </a:solidFill>
            <a:prstDash val="solid"/>
          </a:ln>
        </p:spPr>
      </p:sp>
      <p:sp>
        <p:nvSpPr>
          <p:cNvPr id="17" name="Shape 15"/>
          <p:cNvSpPr/>
          <p:nvPr/>
        </p:nvSpPr>
        <p:spPr>
          <a:xfrm>
            <a:off x="8229600" y="5994400"/>
            <a:ext cx="1625600" cy="36576"/>
          </a:xfrm>
          <a:prstGeom prst="rect">
            <a:avLst/>
          </a:prstGeom>
          <a:solidFill>
            <a:srgbClr val="C9A84C"/>
          </a:solidFill>
          <a:ln w="12700">
            <a:solidFill>
              <a:srgbClr val="C9A84C"/>
            </a:solidFill>
            <a:prstDash val="solid"/>
          </a:ln>
        </p:spPr>
      </p:sp>
      <p:sp>
        <p:nvSpPr>
          <p:cNvPr id="18" name="Text 16"/>
          <p:cNvSpPr/>
          <p:nvPr/>
        </p:nvSpPr>
        <p:spPr>
          <a:xfrm>
            <a:off x="8339328" y="6067552"/>
            <a:ext cx="1406144" cy="4064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5.65%</a:t>
            </a:r>
            <a:endParaRPr lang="en-US" sz="1800" dirty="0"/>
          </a:p>
        </p:txBody>
      </p:sp>
      <p:sp>
        <p:nvSpPr>
          <p:cNvPr id="19" name="Text 17"/>
          <p:cNvSpPr/>
          <p:nvPr/>
        </p:nvSpPr>
        <p:spPr>
          <a:xfrm>
            <a:off x="8339328" y="6451600"/>
            <a:ext cx="1406144" cy="203200"/>
          </a:xfrm>
          <a:prstGeom prst="rect">
            <a:avLst/>
          </a:prstGeom>
          <a:noFill/>
          <a:ln/>
        </p:spPr>
        <p:txBody>
          <a:bodyPr wrap="square" rtlCol="0" anchor="t"/>
          <a:lstStyle/>
          <a:p>
            <a:pPr algn="ctr" indent="0" marL="0">
              <a:buNone/>
            </a:pPr>
            <a:r>
              <a:rPr lang="en-US" sz="1100" spc="50" kern="0" dirty="0">
                <a:solidFill>
                  <a:srgbClr val="A0B4C8"/>
                </a:solidFill>
                <a:latin typeface="Calibri" pitchFamily="34" charset="0"/>
                <a:ea typeface="Calibri" pitchFamily="34" charset="-122"/>
                <a:cs typeface="Calibri" pitchFamily="34" charset="-120"/>
              </a:rPr>
              <a:t>CAP RATE</a:t>
            </a:r>
            <a:endParaRPr lang="en-US" sz="1100" dirty="0"/>
          </a:p>
        </p:txBody>
      </p:sp>
      <p:sp>
        <p:nvSpPr>
          <p:cNvPr id="20" name="Shape 18"/>
          <p:cNvSpPr/>
          <p:nvPr/>
        </p:nvSpPr>
        <p:spPr>
          <a:xfrm>
            <a:off x="10109200" y="5994400"/>
            <a:ext cx="1625600" cy="711200"/>
          </a:xfrm>
          <a:prstGeom prst="rect">
            <a:avLst/>
          </a:prstGeom>
          <a:solidFill>
            <a:srgbClr val="152D48"/>
          </a:solidFill>
          <a:ln w="12700">
            <a:solidFill>
              <a:srgbClr val="243F63"/>
            </a:solidFill>
            <a:prstDash val="solid"/>
          </a:ln>
        </p:spPr>
      </p:sp>
      <p:sp>
        <p:nvSpPr>
          <p:cNvPr id="21" name="Shape 19"/>
          <p:cNvSpPr/>
          <p:nvPr/>
        </p:nvSpPr>
        <p:spPr>
          <a:xfrm>
            <a:off x="10109200" y="5994400"/>
            <a:ext cx="1625600" cy="36576"/>
          </a:xfrm>
          <a:prstGeom prst="rect">
            <a:avLst/>
          </a:prstGeom>
          <a:solidFill>
            <a:srgbClr val="C9A84C"/>
          </a:solidFill>
          <a:ln w="12700">
            <a:solidFill>
              <a:srgbClr val="C9A84C"/>
            </a:solidFill>
            <a:prstDash val="solid"/>
          </a:ln>
        </p:spPr>
      </p:sp>
      <p:sp>
        <p:nvSpPr>
          <p:cNvPr id="22" name="Text 20"/>
          <p:cNvSpPr/>
          <p:nvPr/>
        </p:nvSpPr>
        <p:spPr>
          <a:xfrm>
            <a:off x="10218928" y="6067552"/>
            <a:ext cx="1406144" cy="4064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$192K</a:t>
            </a:r>
            <a:endParaRPr lang="en-US" sz="1800" dirty="0"/>
          </a:p>
        </p:txBody>
      </p:sp>
      <p:sp>
        <p:nvSpPr>
          <p:cNvPr id="23" name="Text 21"/>
          <p:cNvSpPr/>
          <p:nvPr/>
        </p:nvSpPr>
        <p:spPr>
          <a:xfrm>
            <a:off x="10218928" y="6451600"/>
            <a:ext cx="1406144" cy="203200"/>
          </a:xfrm>
          <a:prstGeom prst="rect">
            <a:avLst/>
          </a:prstGeom>
          <a:noFill/>
          <a:ln/>
        </p:spPr>
        <p:txBody>
          <a:bodyPr wrap="square" rtlCol="0" anchor="t"/>
          <a:lstStyle/>
          <a:p>
            <a:pPr algn="ctr" indent="0" marL="0">
              <a:buNone/>
            </a:pPr>
            <a:r>
              <a:rPr lang="en-US" sz="1100" spc="50" kern="0" dirty="0">
                <a:solidFill>
                  <a:srgbClr val="A0B4C8"/>
                </a:solidFill>
                <a:latin typeface="Calibri" pitchFamily="34" charset="0"/>
                <a:ea typeface="Calibri" pitchFamily="34" charset="-122"/>
                <a:cs typeface="Calibri" pitchFamily="34" charset="-120"/>
              </a:rPr>
              <a:t>PRICE / UNIT</a:t>
            </a:r>
            <a:endParaRPr lang="en-US" sz="1100" dirty="0"/>
          </a:p>
        </p:txBody>
      </p:sp>
      <p:sp>
        <p:nvSpPr>
          <p:cNvPr id="24" name="Shape 22"/>
          <p:cNvSpPr/>
          <p:nvPr/>
        </p:nvSpPr>
        <p:spPr>
          <a:xfrm>
            <a:off x="0" y="6604000"/>
            <a:ext cx="12188952" cy="254000"/>
          </a:xfrm>
          <a:prstGeom prst="rect">
            <a:avLst/>
          </a:prstGeom>
          <a:solidFill>
            <a:srgbClr val="0D1E2E"/>
          </a:solidFill>
          <a:ln/>
        </p:spPr>
      </p:sp>
      <p:sp>
        <p:nvSpPr>
          <p:cNvPr id="25" name="Shape 23"/>
          <p:cNvSpPr/>
          <p:nvPr/>
        </p:nvSpPr>
        <p:spPr>
          <a:xfrm>
            <a:off x="0" y="6604000"/>
            <a:ext cx="12188952" cy="0"/>
          </a:xfrm>
          <a:prstGeom prst="rect">
            <a:avLst/>
          </a:prstGeom>
          <a:solidFill>
            <a:srgbClr val="C9A84C"/>
          </a:solidFill>
          <a:ln w="12700">
            <a:solidFill>
              <a:srgbClr val="C9A84C"/>
            </a:solidFill>
            <a:prstDash val="solid"/>
          </a:ln>
        </p:spPr>
      </p:sp>
      <p:sp>
        <p:nvSpPr>
          <p:cNvPr id="26" name="Text 24"/>
          <p:cNvSpPr/>
          <p:nvPr/>
        </p:nvSpPr>
        <p:spPr>
          <a:xfrm>
            <a:off x="0" y="6604000"/>
            <a:ext cx="12188952" cy="254000"/>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Gateway Real Estate Advisors · EXCLUSIVELY OFFERED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OFFERING SUMMARY</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02</a:t>
            </a:r>
            <a:endParaRPr lang="en-US" sz="900" dirty="0"/>
          </a:p>
        </p:txBody>
      </p:sp>
      <p:sp>
        <p:nvSpPr>
          <p:cNvPr id="8" name="Shape 6"/>
          <p:cNvSpPr/>
          <p:nvPr/>
        </p:nvSpPr>
        <p:spPr>
          <a:xfrm>
            <a:off x="457200" y="1168400"/>
            <a:ext cx="5181600" cy="5080000"/>
          </a:xfrm>
          <a:prstGeom prst="rect">
            <a:avLst/>
          </a:prstGeom>
          <a:solidFill>
            <a:srgbClr val="D8DDE5"/>
          </a:solidFill>
          <a:ln w="12700">
            <a:solidFill>
              <a:srgbClr val="BBBBBB"/>
            </a:solidFill>
            <a:prstDash val="solid"/>
          </a:ln>
        </p:spPr>
      </p:sp>
      <p:sp>
        <p:nvSpPr>
          <p:cNvPr id="9" name="Text 7"/>
          <p:cNvSpPr/>
          <p:nvPr/>
        </p:nvSpPr>
        <p:spPr>
          <a:xfrm>
            <a:off x="457200" y="1168400"/>
            <a:ext cx="5181600" cy="5080000"/>
          </a:xfrm>
          <a:prstGeom prst="rect">
            <a:avLst/>
          </a:prstGeom>
          <a:noFill/>
          <a:ln/>
        </p:spPr>
        <p:txBody>
          <a:bodyPr wrap="square" rtlCol="0" anchor="ctr"/>
          <a:lstStyle/>
          <a:p>
            <a:pPr algn="ctr" indent="0" marL="0">
              <a:buNone/>
            </a:pPr>
            <a:r>
              <a:rPr lang="en-US" sz="1100" i="1" dirty="0">
                <a:solidFill>
                  <a:srgbClr val="AAAAAA"/>
                </a:solidFill>
                <a:latin typeface="Calibri" pitchFamily="34" charset="0"/>
                <a:ea typeface="Calibri" pitchFamily="34" charset="-122"/>
                <a:cs typeface="Calibri" pitchFamily="34" charset="-120"/>
              </a:rPr>
              <a:t>PHOTO</a:t>
            </a:r>
            <a:endParaRPr lang="en-US" sz="1100" dirty="0"/>
          </a:p>
        </p:txBody>
      </p:sp>
      <p:sp>
        <p:nvSpPr>
          <p:cNvPr id="10" name="Text 8"/>
          <p:cNvSpPr/>
          <p:nvPr/>
        </p:nvSpPr>
        <p:spPr>
          <a:xfrm>
            <a:off x="5892800" y="1168400"/>
            <a:ext cx="5892800" cy="304800"/>
          </a:xfrm>
          <a:prstGeom prst="rect">
            <a:avLst/>
          </a:prstGeom>
          <a:noFill/>
          <a:ln/>
        </p:spPr>
        <p:txBody>
          <a:bodyPr wrap="square" rtlCol="0" anchor="ctr"/>
          <a:lstStyle/>
          <a:p>
            <a:pPr indent="0" marL="0">
              <a:buNone/>
            </a:pPr>
            <a:r>
              <a:rPr lang="en-US" sz="1800" b="1" spc="50" kern="0" dirty="0">
                <a:solidFill>
                  <a:srgbClr val="C9A84C"/>
                </a:solidFill>
                <a:latin typeface="Calibri" pitchFamily="34" charset="0"/>
                <a:ea typeface="Calibri" pitchFamily="34" charset="-122"/>
                <a:cs typeface="Calibri" pitchFamily="34" charset="-120"/>
              </a:rPr>
              <a:t>KEY METRICS</a:t>
            </a:r>
            <a:endParaRPr lang="en-US" sz="1800" dirty="0"/>
          </a:p>
        </p:txBody>
      </p:sp>
      <p:sp>
        <p:nvSpPr>
          <p:cNvPr id="11" name="Shape 9"/>
          <p:cNvSpPr/>
          <p:nvPr/>
        </p:nvSpPr>
        <p:spPr>
          <a:xfrm>
            <a:off x="5892800" y="1473200"/>
            <a:ext cx="5892800" cy="18288"/>
          </a:xfrm>
          <a:prstGeom prst="rect">
            <a:avLst/>
          </a:prstGeom>
          <a:solidFill>
            <a:srgbClr val="C9A84C"/>
          </a:solidFill>
          <a:ln w="12700">
            <a:solidFill>
              <a:srgbClr val="C9A84C"/>
            </a:solidFill>
            <a:prstDash val="solid"/>
          </a:ln>
        </p:spPr>
      </p:sp>
      <p:sp>
        <p:nvSpPr>
          <p:cNvPr id="12" name="Shape 10"/>
          <p:cNvSpPr/>
          <p:nvPr/>
        </p:nvSpPr>
        <p:spPr>
          <a:xfrm>
            <a:off x="5892800" y="1625600"/>
            <a:ext cx="2844800" cy="914400"/>
          </a:xfrm>
          <a:prstGeom prst="rect">
            <a:avLst/>
          </a:prstGeom>
          <a:solidFill>
            <a:srgbClr val="EEF2F7"/>
          </a:solidFill>
          <a:ln w="12700">
            <a:solidFill>
              <a:srgbClr val="DDDDDD"/>
            </a:solidFill>
            <a:prstDash val="solid"/>
          </a:ln>
        </p:spPr>
      </p:sp>
      <p:sp>
        <p:nvSpPr>
          <p:cNvPr id="13" name="Shape 11"/>
          <p:cNvSpPr/>
          <p:nvPr/>
        </p:nvSpPr>
        <p:spPr>
          <a:xfrm>
            <a:off x="5892800" y="1625600"/>
            <a:ext cx="2844800" cy="36576"/>
          </a:xfrm>
          <a:prstGeom prst="rect">
            <a:avLst/>
          </a:prstGeom>
          <a:solidFill>
            <a:srgbClr val="C9A84C"/>
          </a:solidFill>
          <a:ln w="12700">
            <a:solidFill>
              <a:srgbClr val="C9A84C"/>
            </a:solidFill>
            <a:prstDash val="solid"/>
          </a:ln>
        </p:spPr>
      </p:sp>
      <p:sp>
        <p:nvSpPr>
          <p:cNvPr id="14" name="Text 12"/>
          <p:cNvSpPr/>
          <p:nvPr/>
        </p:nvSpPr>
        <p:spPr>
          <a:xfrm>
            <a:off x="6002528" y="1698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48</a:t>
            </a:r>
            <a:endParaRPr lang="en-US" sz="2000" dirty="0"/>
          </a:p>
        </p:txBody>
      </p:sp>
      <p:sp>
        <p:nvSpPr>
          <p:cNvPr id="15" name="Text 13"/>
          <p:cNvSpPr/>
          <p:nvPr/>
        </p:nvSpPr>
        <p:spPr>
          <a:xfrm>
            <a:off x="6002528" y="2235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TOTAL UNITS</a:t>
            </a:r>
            <a:endParaRPr lang="en-US" sz="1100" dirty="0"/>
          </a:p>
        </p:txBody>
      </p:sp>
      <p:sp>
        <p:nvSpPr>
          <p:cNvPr id="16" name="Shape 14"/>
          <p:cNvSpPr/>
          <p:nvPr/>
        </p:nvSpPr>
        <p:spPr>
          <a:xfrm>
            <a:off x="8940800" y="1625600"/>
            <a:ext cx="2844800" cy="914400"/>
          </a:xfrm>
          <a:prstGeom prst="rect">
            <a:avLst/>
          </a:prstGeom>
          <a:solidFill>
            <a:srgbClr val="EEF2F7"/>
          </a:solidFill>
          <a:ln w="12700">
            <a:solidFill>
              <a:srgbClr val="DDDDDD"/>
            </a:solidFill>
            <a:prstDash val="solid"/>
          </a:ln>
        </p:spPr>
      </p:sp>
      <p:sp>
        <p:nvSpPr>
          <p:cNvPr id="17" name="Shape 15"/>
          <p:cNvSpPr/>
          <p:nvPr/>
        </p:nvSpPr>
        <p:spPr>
          <a:xfrm>
            <a:off x="8940800" y="1625600"/>
            <a:ext cx="2844800" cy="36576"/>
          </a:xfrm>
          <a:prstGeom prst="rect">
            <a:avLst/>
          </a:prstGeom>
          <a:solidFill>
            <a:srgbClr val="C9A84C"/>
          </a:solidFill>
          <a:ln w="12700">
            <a:solidFill>
              <a:srgbClr val="C9A84C"/>
            </a:solidFill>
            <a:prstDash val="solid"/>
          </a:ln>
        </p:spPr>
      </p:sp>
      <p:sp>
        <p:nvSpPr>
          <p:cNvPr id="18" name="Text 16"/>
          <p:cNvSpPr/>
          <p:nvPr/>
        </p:nvSpPr>
        <p:spPr>
          <a:xfrm>
            <a:off x="9050528" y="1698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1987</a:t>
            </a:r>
            <a:endParaRPr lang="en-US" sz="2000" dirty="0"/>
          </a:p>
        </p:txBody>
      </p:sp>
      <p:sp>
        <p:nvSpPr>
          <p:cNvPr id="19" name="Text 17"/>
          <p:cNvSpPr/>
          <p:nvPr/>
        </p:nvSpPr>
        <p:spPr>
          <a:xfrm>
            <a:off x="9050528" y="2235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YEAR BUILT</a:t>
            </a:r>
            <a:endParaRPr lang="en-US" sz="1100" dirty="0"/>
          </a:p>
        </p:txBody>
      </p:sp>
      <p:sp>
        <p:nvSpPr>
          <p:cNvPr id="20" name="Shape 18"/>
          <p:cNvSpPr/>
          <p:nvPr/>
        </p:nvSpPr>
        <p:spPr>
          <a:xfrm>
            <a:off x="5892800" y="2641600"/>
            <a:ext cx="2844800" cy="914400"/>
          </a:xfrm>
          <a:prstGeom prst="rect">
            <a:avLst/>
          </a:prstGeom>
          <a:solidFill>
            <a:srgbClr val="EEF2F7"/>
          </a:solidFill>
          <a:ln w="12700">
            <a:solidFill>
              <a:srgbClr val="DDDDDD"/>
            </a:solidFill>
            <a:prstDash val="solid"/>
          </a:ln>
        </p:spPr>
      </p:sp>
      <p:sp>
        <p:nvSpPr>
          <p:cNvPr id="21" name="Shape 19"/>
          <p:cNvSpPr/>
          <p:nvPr/>
        </p:nvSpPr>
        <p:spPr>
          <a:xfrm>
            <a:off x="5892800" y="2641600"/>
            <a:ext cx="2844800" cy="36576"/>
          </a:xfrm>
          <a:prstGeom prst="rect">
            <a:avLst/>
          </a:prstGeom>
          <a:solidFill>
            <a:srgbClr val="C9A84C"/>
          </a:solidFill>
          <a:ln w="12700">
            <a:solidFill>
              <a:srgbClr val="C9A84C"/>
            </a:solidFill>
            <a:prstDash val="solid"/>
          </a:ln>
        </p:spPr>
      </p:sp>
      <p:sp>
        <p:nvSpPr>
          <p:cNvPr id="22" name="Text 20"/>
          <p:cNvSpPr/>
          <p:nvPr/>
        </p:nvSpPr>
        <p:spPr>
          <a:xfrm>
            <a:off x="6002528" y="2714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$9.20M</a:t>
            </a:r>
            <a:endParaRPr lang="en-US" sz="2000" dirty="0"/>
          </a:p>
        </p:txBody>
      </p:sp>
      <p:sp>
        <p:nvSpPr>
          <p:cNvPr id="23" name="Text 21"/>
          <p:cNvSpPr/>
          <p:nvPr/>
        </p:nvSpPr>
        <p:spPr>
          <a:xfrm>
            <a:off x="6002528" y="3251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ASKING PRICE</a:t>
            </a:r>
            <a:endParaRPr lang="en-US" sz="1100" dirty="0"/>
          </a:p>
        </p:txBody>
      </p:sp>
      <p:sp>
        <p:nvSpPr>
          <p:cNvPr id="24" name="Shape 22"/>
          <p:cNvSpPr/>
          <p:nvPr/>
        </p:nvSpPr>
        <p:spPr>
          <a:xfrm>
            <a:off x="8940800" y="2641600"/>
            <a:ext cx="2844800" cy="914400"/>
          </a:xfrm>
          <a:prstGeom prst="rect">
            <a:avLst/>
          </a:prstGeom>
          <a:solidFill>
            <a:srgbClr val="EEF2F7"/>
          </a:solidFill>
          <a:ln w="12700">
            <a:solidFill>
              <a:srgbClr val="DDDDDD"/>
            </a:solidFill>
            <a:prstDash val="solid"/>
          </a:ln>
        </p:spPr>
      </p:sp>
      <p:sp>
        <p:nvSpPr>
          <p:cNvPr id="25" name="Shape 23"/>
          <p:cNvSpPr/>
          <p:nvPr/>
        </p:nvSpPr>
        <p:spPr>
          <a:xfrm>
            <a:off x="8940800" y="2641600"/>
            <a:ext cx="2844800" cy="36576"/>
          </a:xfrm>
          <a:prstGeom prst="rect">
            <a:avLst/>
          </a:prstGeom>
          <a:solidFill>
            <a:srgbClr val="C9A84C"/>
          </a:solidFill>
          <a:ln w="12700">
            <a:solidFill>
              <a:srgbClr val="C9A84C"/>
            </a:solidFill>
            <a:prstDash val="solid"/>
          </a:ln>
        </p:spPr>
      </p:sp>
      <p:sp>
        <p:nvSpPr>
          <p:cNvPr id="26" name="Text 24"/>
          <p:cNvSpPr/>
          <p:nvPr/>
        </p:nvSpPr>
        <p:spPr>
          <a:xfrm>
            <a:off x="9050528" y="2714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$192K</a:t>
            </a:r>
            <a:endParaRPr lang="en-US" sz="2000" dirty="0"/>
          </a:p>
        </p:txBody>
      </p:sp>
      <p:sp>
        <p:nvSpPr>
          <p:cNvPr id="27" name="Text 25"/>
          <p:cNvSpPr/>
          <p:nvPr/>
        </p:nvSpPr>
        <p:spPr>
          <a:xfrm>
            <a:off x="9050528" y="3251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PRICE / UNIT</a:t>
            </a:r>
            <a:endParaRPr lang="en-US" sz="1100" dirty="0"/>
          </a:p>
        </p:txBody>
      </p:sp>
      <p:sp>
        <p:nvSpPr>
          <p:cNvPr id="28" name="Shape 26"/>
          <p:cNvSpPr/>
          <p:nvPr/>
        </p:nvSpPr>
        <p:spPr>
          <a:xfrm>
            <a:off x="5892800" y="3657600"/>
            <a:ext cx="2844800" cy="914400"/>
          </a:xfrm>
          <a:prstGeom prst="rect">
            <a:avLst/>
          </a:prstGeom>
          <a:solidFill>
            <a:srgbClr val="EEF2F7"/>
          </a:solidFill>
          <a:ln w="12700">
            <a:solidFill>
              <a:srgbClr val="DDDDDD"/>
            </a:solidFill>
            <a:prstDash val="solid"/>
          </a:ln>
        </p:spPr>
      </p:sp>
      <p:sp>
        <p:nvSpPr>
          <p:cNvPr id="29" name="Shape 27"/>
          <p:cNvSpPr/>
          <p:nvPr/>
        </p:nvSpPr>
        <p:spPr>
          <a:xfrm>
            <a:off x="5892800" y="3657600"/>
            <a:ext cx="2844800" cy="36576"/>
          </a:xfrm>
          <a:prstGeom prst="rect">
            <a:avLst/>
          </a:prstGeom>
          <a:solidFill>
            <a:srgbClr val="C9A84C"/>
          </a:solidFill>
          <a:ln w="12700">
            <a:solidFill>
              <a:srgbClr val="C9A84C"/>
            </a:solidFill>
            <a:prstDash val="solid"/>
          </a:ln>
        </p:spPr>
      </p:sp>
      <p:sp>
        <p:nvSpPr>
          <p:cNvPr id="30" name="Text 28"/>
          <p:cNvSpPr/>
          <p:nvPr/>
        </p:nvSpPr>
        <p:spPr>
          <a:xfrm>
            <a:off x="6002528" y="3730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5.65%</a:t>
            </a:r>
            <a:endParaRPr lang="en-US" sz="2000" dirty="0"/>
          </a:p>
        </p:txBody>
      </p:sp>
      <p:sp>
        <p:nvSpPr>
          <p:cNvPr id="31" name="Text 29"/>
          <p:cNvSpPr/>
          <p:nvPr/>
        </p:nvSpPr>
        <p:spPr>
          <a:xfrm>
            <a:off x="6002528" y="4267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CAP RATE</a:t>
            </a:r>
            <a:endParaRPr lang="en-US" sz="1100" dirty="0"/>
          </a:p>
        </p:txBody>
      </p:sp>
      <p:sp>
        <p:nvSpPr>
          <p:cNvPr id="32" name="Shape 30"/>
          <p:cNvSpPr/>
          <p:nvPr/>
        </p:nvSpPr>
        <p:spPr>
          <a:xfrm>
            <a:off x="8940800" y="3657600"/>
            <a:ext cx="2844800" cy="914400"/>
          </a:xfrm>
          <a:prstGeom prst="rect">
            <a:avLst/>
          </a:prstGeom>
          <a:solidFill>
            <a:srgbClr val="EEF2F7"/>
          </a:solidFill>
          <a:ln w="12700">
            <a:solidFill>
              <a:srgbClr val="DDDDDD"/>
            </a:solidFill>
            <a:prstDash val="solid"/>
          </a:ln>
        </p:spPr>
      </p:sp>
      <p:sp>
        <p:nvSpPr>
          <p:cNvPr id="33" name="Shape 31"/>
          <p:cNvSpPr/>
          <p:nvPr/>
        </p:nvSpPr>
        <p:spPr>
          <a:xfrm>
            <a:off x="8940800" y="3657600"/>
            <a:ext cx="2844800" cy="36576"/>
          </a:xfrm>
          <a:prstGeom prst="rect">
            <a:avLst/>
          </a:prstGeom>
          <a:solidFill>
            <a:srgbClr val="C9A84C"/>
          </a:solidFill>
          <a:ln w="12700">
            <a:solidFill>
              <a:srgbClr val="C9A84C"/>
            </a:solidFill>
            <a:prstDash val="solid"/>
          </a:ln>
        </p:spPr>
      </p:sp>
      <p:sp>
        <p:nvSpPr>
          <p:cNvPr id="34" name="Text 32"/>
          <p:cNvSpPr/>
          <p:nvPr/>
        </p:nvSpPr>
        <p:spPr>
          <a:xfrm>
            <a:off x="9050528" y="3730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$520K</a:t>
            </a:r>
            <a:endParaRPr lang="en-US" sz="2000" dirty="0"/>
          </a:p>
        </p:txBody>
      </p:sp>
      <p:sp>
        <p:nvSpPr>
          <p:cNvPr id="35" name="Text 33"/>
          <p:cNvSpPr/>
          <p:nvPr/>
        </p:nvSpPr>
        <p:spPr>
          <a:xfrm>
            <a:off x="9050528" y="4267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NET OP. INCOME</a:t>
            </a:r>
            <a:endParaRPr lang="en-US" sz="1100" dirty="0"/>
          </a:p>
        </p:txBody>
      </p:sp>
      <p:sp>
        <p:nvSpPr>
          <p:cNvPr id="36" name="Shape 34"/>
          <p:cNvSpPr/>
          <p:nvPr/>
        </p:nvSpPr>
        <p:spPr>
          <a:xfrm>
            <a:off x="5892800" y="4673600"/>
            <a:ext cx="2844800" cy="914400"/>
          </a:xfrm>
          <a:prstGeom prst="rect">
            <a:avLst/>
          </a:prstGeom>
          <a:solidFill>
            <a:srgbClr val="EEF2F7"/>
          </a:solidFill>
          <a:ln w="12700">
            <a:solidFill>
              <a:srgbClr val="DDDDDD"/>
            </a:solidFill>
            <a:prstDash val="solid"/>
          </a:ln>
        </p:spPr>
      </p:sp>
      <p:sp>
        <p:nvSpPr>
          <p:cNvPr id="37" name="Shape 35"/>
          <p:cNvSpPr/>
          <p:nvPr/>
        </p:nvSpPr>
        <p:spPr>
          <a:xfrm>
            <a:off x="5892800" y="4673600"/>
            <a:ext cx="2844800" cy="36576"/>
          </a:xfrm>
          <a:prstGeom prst="rect">
            <a:avLst/>
          </a:prstGeom>
          <a:solidFill>
            <a:srgbClr val="C9A84C"/>
          </a:solidFill>
          <a:ln w="12700">
            <a:solidFill>
              <a:srgbClr val="C9A84C"/>
            </a:solidFill>
            <a:prstDash val="solid"/>
          </a:ln>
        </p:spPr>
      </p:sp>
      <p:sp>
        <p:nvSpPr>
          <p:cNvPr id="38" name="Text 36"/>
          <p:cNvSpPr/>
          <p:nvPr/>
        </p:nvSpPr>
        <p:spPr>
          <a:xfrm>
            <a:off x="6002528" y="4746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12.4x</a:t>
            </a:r>
            <a:endParaRPr lang="en-US" sz="2000" dirty="0"/>
          </a:p>
        </p:txBody>
      </p:sp>
      <p:sp>
        <p:nvSpPr>
          <p:cNvPr id="39" name="Text 37"/>
          <p:cNvSpPr/>
          <p:nvPr/>
        </p:nvSpPr>
        <p:spPr>
          <a:xfrm>
            <a:off x="6002528" y="5283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GRM</a:t>
            </a:r>
            <a:endParaRPr lang="en-US" sz="1100" dirty="0"/>
          </a:p>
        </p:txBody>
      </p:sp>
      <p:sp>
        <p:nvSpPr>
          <p:cNvPr id="40" name="Shape 38"/>
          <p:cNvSpPr/>
          <p:nvPr/>
        </p:nvSpPr>
        <p:spPr>
          <a:xfrm>
            <a:off x="8940800" y="4673600"/>
            <a:ext cx="2844800" cy="914400"/>
          </a:xfrm>
          <a:prstGeom prst="rect">
            <a:avLst/>
          </a:prstGeom>
          <a:solidFill>
            <a:srgbClr val="EEF2F7"/>
          </a:solidFill>
          <a:ln w="12700">
            <a:solidFill>
              <a:srgbClr val="DDDDDD"/>
            </a:solidFill>
            <a:prstDash val="solid"/>
          </a:ln>
        </p:spPr>
      </p:sp>
      <p:sp>
        <p:nvSpPr>
          <p:cNvPr id="41" name="Shape 39"/>
          <p:cNvSpPr/>
          <p:nvPr/>
        </p:nvSpPr>
        <p:spPr>
          <a:xfrm>
            <a:off x="8940800" y="4673600"/>
            <a:ext cx="2844800" cy="36576"/>
          </a:xfrm>
          <a:prstGeom prst="rect">
            <a:avLst/>
          </a:prstGeom>
          <a:solidFill>
            <a:srgbClr val="C9A84C"/>
          </a:solidFill>
          <a:ln w="12700">
            <a:solidFill>
              <a:srgbClr val="C9A84C"/>
            </a:solidFill>
            <a:prstDash val="solid"/>
          </a:ln>
        </p:spPr>
      </p:sp>
      <p:sp>
        <p:nvSpPr>
          <p:cNvPr id="42" name="Text 40"/>
          <p:cNvSpPr/>
          <p:nvPr/>
        </p:nvSpPr>
        <p:spPr>
          <a:xfrm>
            <a:off x="9050528" y="4746752"/>
            <a:ext cx="2625344" cy="5080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96.2%</a:t>
            </a:r>
            <a:endParaRPr lang="en-US" sz="2000" dirty="0"/>
          </a:p>
        </p:txBody>
      </p:sp>
      <p:sp>
        <p:nvSpPr>
          <p:cNvPr id="43" name="Text 41"/>
          <p:cNvSpPr/>
          <p:nvPr/>
        </p:nvSpPr>
        <p:spPr>
          <a:xfrm>
            <a:off x="9050528" y="5283200"/>
            <a:ext cx="2625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OCCUPANCY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0" y="1371600"/>
            <a:ext cx="12188952" cy="3200400"/>
          </a:xfrm>
          <a:prstGeom prst="rect">
            <a:avLst/>
          </a:prstGeom>
          <a:noFill/>
          <a:ln/>
        </p:spPr>
        <p:txBody>
          <a:bodyPr wrap="square" rtlCol="0" anchor="ctr"/>
          <a:lstStyle/>
          <a:p>
            <a:pPr algn="ctr" indent="0" marL="0">
              <a:buNone/>
            </a:pPr>
            <a:r>
              <a:rPr lang="en-US" sz="12000" b="1" spc="800" kern="0" dirty="0">
                <a:solidFill>
                  <a:srgbClr val="243F63"/>
                </a:solidFill>
                <a:latin typeface="Georgia" pitchFamily="34" charset="0"/>
                <a:ea typeface="Georgia" pitchFamily="34" charset="-122"/>
                <a:cs typeface="Georgia" pitchFamily="34" charset="-120"/>
              </a:rPr>
              <a:t>01</a:t>
            </a:r>
            <a:endParaRPr lang="en-US" sz="12000" dirty="0"/>
          </a:p>
        </p:txBody>
      </p:sp>
      <p:sp>
        <p:nvSpPr>
          <p:cNvPr id="3" name="Text 1"/>
          <p:cNvSpPr/>
          <p:nvPr/>
        </p:nvSpPr>
        <p:spPr>
          <a:xfrm>
            <a:off x="0" y="2794000"/>
            <a:ext cx="12188952" cy="203200"/>
          </a:xfrm>
          <a:prstGeom prst="rect">
            <a:avLst/>
          </a:prstGeom>
          <a:noFill/>
          <a:ln/>
        </p:spPr>
        <p:txBody>
          <a:bodyPr wrap="square" rtlCol="0" anchor="ctr"/>
          <a:lstStyle/>
          <a:p>
            <a:pPr algn="ctr" indent="0" marL="0">
              <a:buNone/>
            </a:pPr>
            <a:r>
              <a:rPr lang="en-US" sz="900" spc="300" kern="0" dirty="0">
                <a:solidFill>
                  <a:srgbClr val="C9A84C"/>
                </a:solidFill>
                <a:latin typeface="Calibri" pitchFamily="34" charset="0"/>
                <a:ea typeface="Calibri" pitchFamily="34" charset="-122"/>
                <a:cs typeface="Calibri" pitchFamily="34" charset="-120"/>
              </a:rPr>
              <a:t>SECTION</a:t>
            </a:r>
            <a:endParaRPr lang="en-US" sz="900" dirty="0"/>
          </a:p>
        </p:txBody>
      </p:sp>
      <p:sp>
        <p:nvSpPr>
          <p:cNvPr id="4" name="Shape 2"/>
          <p:cNvSpPr/>
          <p:nvPr/>
        </p:nvSpPr>
        <p:spPr>
          <a:xfrm>
            <a:off x="457200" y="2997200"/>
            <a:ext cx="11277600" cy="50800"/>
          </a:xfrm>
          <a:prstGeom prst="rect">
            <a:avLst/>
          </a:prstGeom>
          <a:solidFill>
            <a:srgbClr val="C9A84C"/>
          </a:solidFill>
          <a:ln w="12700">
            <a:solidFill>
              <a:srgbClr val="C9A84C"/>
            </a:solidFill>
            <a:prstDash val="solid"/>
          </a:ln>
        </p:spPr>
      </p:sp>
      <p:sp>
        <p:nvSpPr>
          <p:cNvPr id="5" name="Text 3"/>
          <p:cNvSpPr/>
          <p:nvPr/>
        </p:nvSpPr>
        <p:spPr>
          <a:xfrm>
            <a:off x="457200" y="3048000"/>
            <a:ext cx="11277600" cy="1016000"/>
          </a:xfrm>
          <a:prstGeom prst="rect">
            <a:avLst/>
          </a:prstGeom>
          <a:noFill/>
          <a:ln/>
        </p:spPr>
        <p:txBody>
          <a:bodyPr wrap="square" rtlCol="0" anchor="ctr">
            <a:normAutofit/>
          </a:bodyPr>
          <a:lstStyle/>
          <a:p>
            <a:pPr algn="ctr" indent="0" marL="0">
              <a:buNone/>
            </a:pPr>
            <a:r>
              <a:rPr lang="en-US" sz="4000" b="1" spc="150" kern="0" dirty="0">
                <a:solidFill>
                  <a:srgbClr val="FFFFFF"/>
                </a:solidFill>
                <a:latin typeface="Georgia" pitchFamily="34" charset="0"/>
                <a:ea typeface="Georgia" pitchFamily="34" charset="-122"/>
                <a:cs typeface="Georgia" pitchFamily="34" charset="-120"/>
              </a:rPr>
              <a:t>THE OPPORTUNITY</a:t>
            </a:r>
            <a:endParaRPr lang="en-US" sz="4000" dirty="0"/>
          </a:p>
        </p:txBody>
      </p:sp>
      <p:sp>
        <p:nvSpPr>
          <p:cNvPr id="6" name="Text 4"/>
          <p:cNvSpPr/>
          <p:nvPr/>
        </p:nvSpPr>
        <p:spPr>
          <a:xfrm>
            <a:off x="457200" y="4165600"/>
            <a:ext cx="11277600" cy="406400"/>
          </a:xfrm>
          <a:prstGeom prst="rect">
            <a:avLst/>
          </a:prstGeom>
          <a:noFill/>
          <a:ln/>
        </p:spPr>
        <p:txBody>
          <a:bodyPr wrap="square" rtlCol="0" anchor="ctr"/>
          <a:lstStyle/>
          <a:p>
            <a:pPr algn="ctr" indent="0" marL="0">
              <a:buNone/>
            </a:pPr>
            <a:r>
              <a:rPr lang="en-US" sz="1800" dirty="0">
                <a:solidFill>
                  <a:srgbClr val="A0B8D0"/>
                </a:solidFill>
                <a:latin typeface="Calibri" pitchFamily="34" charset="0"/>
                <a:ea typeface="Calibri" pitchFamily="34" charset="-122"/>
                <a:cs typeface="Calibri" pitchFamily="34" charset="-120"/>
              </a:rPr>
              <a:t>Investment Highlights &amp; Property Details</a:t>
            </a:r>
            <a:endParaRPr lang="en-US" sz="1800" dirty="0"/>
          </a:p>
        </p:txBody>
      </p:sp>
      <p:sp>
        <p:nvSpPr>
          <p:cNvPr id="7" name="Shape 5"/>
          <p:cNvSpPr/>
          <p:nvPr/>
        </p:nvSpPr>
        <p:spPr>
          <a:xfrm>
            <a:off x="0" y="6756400"/>
            <a:ext cx="12188952" cy="101600"/>
          </a:xfrm>
          <a:prstGeom prst="rect">
            <a:avLst/>
          </a:prstGeom>
          <a:solidFill>
            <a:srgbClr val="C9A84C"/>
          </a:solidFill>
          <a:ln w="12700">
            <a:solidFill>
              <a:srgbClr val="C9A84C"/>
            </a:solidFill>
            <a:prstDash val="solid"/>
          </a:ln>
        </p:spPr>
      </p:sp>
      <p:sp>
        <p:nvSpPr>
          <p:cNvPr id="8" name="Text 6"/>
          <p:cNvSpPr/>
          <p:nvPr/>
        </p:nvSpPr>
        <p:spPr>
          <a:xfrm>
            <a:off x="457200" y="6502400"/>
            <a:ext cx="11277600" cy="254000"/>
          </a:xfrm>
          <a:prstGeom prst="rect">
            <a:avLst/>
          </a:prstGeom>
          <a:noFill/>
          <a:ln/>
        </p:spPr>
        <p:txBody>
          <a:bodyPr wrap="square" rtlCol="0" anchor="ctr"/>
          <a:lstStyle/>
          <a:p>
            <a:pPr algn="r" indent="0" marL="0">
              <a:buNone/>
            </a:pPr>
            <a:r>
              <a:rPr lang="en-US" sz="900" dirty="0">
                <a:solidFill>
                  <a:srgbClr val="C9A84C"/>
                </a:solidFill>
                <a:latin typeface="Calibri" pitchFamily="34" charset="0"/>
                <a:ea typeface="Calibri" pitchFamily="34" charset="-122"/>
                <a:cs typeface="Calibri" pitchFamily="34" charset="-120"/>
              </a:rPr>
              <a:t>Gateway Real Estate Advisors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FFFFFF"/>
                </a:solidFill>
                <a:latin typeface="Georgia" pitchFamily="34" charset="0"/>
                <a:ea typeface="Georgia" pitchFamily="34" charset="-122"/>
                <a:cs typeface="Georgia" pitchFamily="34" charset="-120"/>
              </a:rPr>
              <a:t>INVESTMENT HIGHLIGHTS</a:t>
            </a:r>
            <a:endParaRPr lang="en-US" sz="2800" dirty="0"/>
          </a:p>
        </p:txBody>
      </p:sp>
      <p:sp>
        <p:nvSpPr>
          <p:cNvPr id="4" name="Shape 2"/>
          <p:cNvSpPr/>
          <p:nvPr/>
        </p:nvSpPr>
        <p:spPr>
          <a:xfrm>
            <a:off x="457200" y="965200"/>
            <a:ext cx="11277600" cy="0"/>
          </a:xfrm>
          <a:prstGeom prst="rect">
            <a:avLst/>
          </a:prstGeom>
          <a:solidFill>
            <a:srgbClr val="C9A84C"/>
          </a:solidFill>
          <a:ln w="12700">
            <a:solidFill>
              <a:srgbClr val="C9A84C"/>
            </a:solidFill>
            <a:prstDash val="solid"/>
          </a:ln>
        </p:spPr>
      </p:sp>
      <p:sp>
        <p:nvSpPr>
          <p:cNvPr id="5" name="Shape 3"/>
          <p:cNvSpPr/>
          <p:nvPr/>
        </p:nvSpPr>
        <p:spPr>
          <a:xfrm>
            <a:off x="457200" y="6400800"/>
            <a:ext cx="11277600" cy="0"/>
          </a:xfrm>
          <a:prstGeom prst="rect">
            <a:avLst/>
          </a:prstGeom>
          <a:solidFill>
            <a:srgbClr val="2C5080"/>
          </a:solidFill>
          <a:ln w="12700">
            <a:solidFill>
              <a:srgbClr val="2C5080"/>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AABBCC"/>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03</a:t>
            </a:r>
            <a:endParaRPr lang="en-US" sz="900" dirty="0"/>
          </a:p>
        </p:txBody>
      </p:sp>
      <p:sp>
        <p:nvSpPr>
          <p:cNvPr id="8" name="Shape 6"/>
          <p:cNvSpPr/>
          <p:nvPr/>
        </p:nvSpPr>
        <p:spPr>
          <a:xfrm>
            <a:off x="457200" y="1168400"/>
            <a:ext cx="5537200" cy="2438400"/>
          </a:xfrm>
          <a:prstGeom prst="rect">
            <a:avLst/>
          </a:prstGeom>
          <a:solidFill>
            <a:srgbClr val="243F63"/>
          </a:solidFill>
          <a:ln/>
        </p:spPr>
      </p:sp>
      <p:sp>
        <p:nvSpPr>
          <p:cNvPr id="9" name="Shape 7"/>
          <p:cNvSpPr/>
          <p:nvPr/>
        </p:nvSpPr>
        <p:spPr>
          <a:xfrm>
            <a:off x="457200" y="1168400"/>
            <a:ext cx="5537200" cy="50800"/>
          </a:xfrm>
          <a:prstGeom prst="rect">
            <a:avLst/>
          </a:prstGeom>
          <a:solidFill>
            <a:srgbClr val="C9A84C"/>
          </a:solidFill>
          <a:ln w="12700">
            <a:solidFill>
              <a:srgbClr val="C9A84C"/>
            </a:solidFill>
            <a:prstDash val="solid"/>
          </a:ln>
        </p:spPr>
      </p:sp>
      <p:sp>
        <p:nvSpPr>
          <p:cNvPr id="10" name="Text 8"/>
          <p:cNvSpPr/>
          <p:nvPr/>
        </p:nvSpPr>
        <p:spPr>
          <a:xfrm>
            <a:off x="660400" y="1320800"/>
            <a:ext cx="5130800" cy="355600"/>
          </a:xfrm>
          <a:prstGeom prst="rect">
            <a:avLst/>
          </a:prstGeom>
          <a:noFill/>
          <a:ln/>
        </p:spPr>
        <p:txBody>
          <a:bodyPr wrap="square" rtlCol="0" anchor="ctr"/>
          <a:lstStyle/>
          <a:p>
            <a:pPr indent="0" marL="0">
              <a:buNone/>
            </a:pPr>
            <a:r>
              <a:rPr lang="en-US" sz="1800" b="1" dirty="0">
                <a:solidFill>
                  <a:srgbClr val="C9A84C"/>
                </a:solidFill>
                <a:latin typeface="Calibri" pitchFamily="34" charset="0"/>
                <a:ea typeface="Calibri" pitchFamily="34" charset="-122"/>
                <a:cs typeface="Calibri" pitchFamily="34" charset="-120"/>
              </a:rPr>
              <a:t>Value-Add Runway</a:t>
            </a:r>
            <a:endParaRPr lang="en-US" sz="1800" dirty="0"/>
          </a:p>
        </p:txBody>
      </p:sp>
      <p:sp>
        <p:nvSpPr>
          <p:cNvPr id="11" name="Shape 9"/>
          <p:cNvSpPr/>
          <p:nvPr/>
        </p:nvSpPr>
        <p:spPr>
          <a:xfrm>
            <a:off x="609600" y="1371600"/>
            <a:ext cx="50800" cy="2133600"/>
          </a:xfrm>
          <a:prstGeom prst="rect">
            <a:avLst/>
          </a:prstGeom>
          <a:solidFill>
            <a:srgbClr val="C9A84C"/>
          </a:solidFill>
          <a:ln w="12700">
            <a:solidFill>
              <a:srgbClr val="C9A84C"/>
            </a:solidFill>
            <a:prstDash val="solid"/>
          </a:ln>
        </p:spPr>
      </p:sp>
      <p:sp>
        <p:nvSpPr>
          <p:cNvPr id="12" name="Text 10"/>
          <p:cNvSpPr/>
          <p:nvPr/>
        </p:nvSpPr>
        <p:spPr>
          <a:xfrm>
            <a:off x="711200" y="1778000"/>
            <a:ext cx="5130800" cy="1727200"/>
          </a:xfrm>
          <a:prstGeom prst="rect">
            <a:avLst/>
          </a:prstGeom>
          <a:noFill/>
          <a:ln/>
        </p:spPr>
        <p:txBody>
          <a:bodyPr wrap="square" rtlCol="0" anchor="t"/>
          <a:lstStyle/>
          <a:p>
            <a:pPr indent="0" marL="0">
              <a:lnSpc>
                <a:spcPct val="145000"/>
              </a:lnSpc>
              <a:buNone/>
            </a:pPr>
            <a:r>
              <a:rPr lang="en-US" sz="1300" dirty="0">
                <a:solidFill>
                  <a:srgbClr val="C8D8E8"/>
                </a:solidFill>
                <a:latin typeface="Calibri" pitchFamily="34" charset="0"/>
                <a:ea typeface="Calibri" pitchFamily="34" charset="-122"/>
                <a:cs typeface="Calibri" pitchFamily="34" charset="-120"/>
              </a:rPr>
              <a:t>In-place rents average 10% below market. Light interior renovation program projected to drive $150–175/month premium per unit.</a:t>
            </a:r>
            <a:endParaRPr lang="en-US" sz="1300" dirty="0"/>
          </a:p>
        </p:txBody>
      </p:sp>
      <p:sp>
        <p:nvSpPr>
          <p:cNvPr id="13" name="Shape 11"/>
          <p:cNvSpPr/>
          <p:nvPr/>
        </p:nvSpPr>
        <p:spPr>
          <a:xfrm>
            <a:off x="6248400" y="1168400"/>
            <a:ext cx="5537200" cy="2438400"/>
          </a:xfrm>
          <a:prstGeom prst="rect">
            <a:avLst/>
          </a:prstGeom>
          <a:solidFill>
            <a:srgbClr val="243F63"/>
          </a:solidFill>
          <a:ln/>
        </p:spPr>
      </p:sp>
      <p:sp>
        <p:nvSpPr>
          <p:cNvPr id="14" name="Shape 12"/>
          <p:cNvSpPr/>
          <p:nvPr/>
        </p:nvSpPr>
        <p:spPr>
          <a:xfrm>
            <a:off x="6248400" y="1168400"/>
            <a:ext cx="5537200" cy="50800"/>
          </a:xfrm>
          <a:prstGeom prst="rect">
            <a:avLst/>
          </a:prstGeom>
          <a:solidFill>
            <a:srgbClr val="C9A84C"/>
          </a:solidFill>
          <a:ln w="12700">
            <a:solidFill>
              <a:srgbClr val="C9A84C"/>
            </a:solidFill>
            <a:prstDash val="solid"/>
          </a:ln>
        </p:spPr>
      </p:sp>
      <p:sp>
        <p:nvSpPr>
          <p:cNvPr id="15" name="Text 13"/>
          <p:cNvSpPr/>
          <p:nvPr/>
        </p:nvSpPr>
        <p:spPr>
          <a:xfrm>
            <a:off x="6451600" y="1320800"/>
            <a:ext cx="5130800" cy="355600"/>
          </a:xfrm>
          <a:prstGeom prst="rect">
            <a:avLst/>
          </a:prstGeom>
          <a:noFill/>
          <a:ln/>
        </p:spPr>
        <p:txBody>
          <a:bodyPr wrap="square" rtlCol="0" anchor="ctr"/>
          <a:lstStyle/>
          <a:p>
            <a:pPr indent="0" marL="0">
              <a:buNone/>
            </a:pPr>
            <a:r>
              <a:rPr lang="en-US" sz="1800" b="1" dirty="0">
                <a:solidFill>
                  <a:srgbClr val="C9A84C"/>
                </a:solidFill>
                <a:latin typeface="Calibri" pitchFamily="34" charset="0"/>
                <a:ea typeface="Calibri" pitchFamily="34" charset="-122"/>
                <a:cs typeface="Calibri" pitchFamily="34" charset="-120"/>
              </a:rPr>
              <a:t>Strategic Location</a:t>
            </a:r>
            <a:endParaRPr lang="en-US" sz="1800" dirty="0"/>
          </a:p>
        </p:txBody>
      </p:sp>
      <p:sp>
        <p:nvSpPr>
          <p:cNvPr id="16" name="Shape 14"/>
          <p:cNvSpPr/>
          <p:nvPr/>
        </p:nvSpPr>
        <p:spPr>
          <a:xfrm>
            <a:off x="6400800" y="1371600"/>
            <a:ext cx="50800" cy="2133600"/>
          </a:xfrm>
          <a:prstGeom prst="rect">
            <a:avLst/>
          </a:prstGeom>
          <a:solidFill>
            <a:srgbClr val="C9A84C"/>
          </a:solidFill>
          <a:ln w="12700">
            <a:solidFill>
              <a:srgbClr val="C9A84C"/>
            </a:solidFill>
            <a:prstDash val="solid"/>
          </a:ln>
        </p:spPr>
      </p:sp>
      <p:sp>
        <p:nvSpPr>
          <p:cNvPr id="17" name="Text 15"/>
          <p:cNvSpPr/>
          <p:nvPr/>
        </p:nvSpPr>
        <p:spPr>
          <a:xfrm>
            <a:off x="6502400" y="1778000"/>
            <a:ext cx="5130800" cy="1727200"/>
          </a:xfrm>
          <a:prstGeom prst="rect">
            <a:avLst/>
          </a:prstGeom>
          <a:noFill/>
          <a:ln/>
        </p:spPr>
        <p:txBody>
          <a:bodyPr wrap="square" rtlCol="0" anchor="t"/>
          <a:lstStyle/>
          <a:p>
            <a:pPr indent="0" marL="0">
              <a:lnSpc>
                <a:spcPct val="145000"/>
              </a:lnSpc>
              <a:buNone/>
            </a:pPr>
            <a:r>
              <a:rPr lang="en-US" sz="1300" dirty="0">
                <a:solidFill>
                  <a:srgbClr val="C8D8E8"/>
                </a:solidFill>
                <a:latin typeface="Calibri" pitchFamily="34" charset="0"/>
                <a:ea typeface="Calibri" pitchFamily="34" charset="-122"/>
                <a:cs typeface="Calibri" pitchFamily="34" charset="-120"/>
              </a:rPr>
              <a:t>Walking distance to Union Station, RiNo Arts District, and major employment hubs. 92 Walk Score with direct RTD access.</a:t>
            </a:r>
            <a:endParaRPr lang="en-US" sz="1300" dirty="0"/>
          </a:p>
        </p:txBody>
      </p:sp>
      <p:sp>
        <p:nvSpPr>
          <p:cNvPr id="18" name="Shape 16"/>
          <p:cNvSpPr/>
          <p:nvPr/>
        </p:nvSpPr>
        <p:spPr>
          <a:xfrm>
            <a:off x="457200" y="3860800"/>
            <a:ext cx="5537200" cy="2438400"/>
          </a:xfrm>
          <a:prstGeom prst="rect">
            <a:avLst/>
          </a:prstGeom>
          <a:solidFill>
            <a:srgbClr val="243F63"/>
          </a:solidFill>
          <a:ln/>
        </p:spPr>
      </p:sp>
      <p:sp>
        <p:nvSpPr>
          <p:cNvPr id="19" name="Shape 17"/>
          <p:cNvSpPr/>
          <p:nvPr/>
        </p:nvSpPr>
        <p:spPr>
          <a:xfrm>
            <a:off x="457200" y="3860800"/>
            <a:ext cx="5537200" cy="50800"/>
          </a:xfrm>
          <a:prstGeom prst="rect">
            <a:avLst/>
          </a:prstGeom>
          <a:solidFill>
            <a:srgbClr val="C9A84C"/>
          </a:solidFill>
          <a:ln w="12700">
            <a:solidFill>
              <a:srgbClr val="C9A84C"/>
            </a:solidFill>
            <a:prstDash val="solid"/>
          </a:ln>
        </p:spPr>
      </p:sp>
      <p:sp>
        <p:nvSpPr>
          <p:cNvPr id="20" name="Text 18"/>
          <p:cNvSpPr/>
          <p:nvPr/>
        </p:nvSpPr>
        <p:spPr>
          <a:xfrm>
            <a:off x="660400" y="4013200"/>
            <a:ext cx="5130800" cy="355600"/>
          </a:xfrm>
          <a:prstGeom prst="rect">
            <a:avLst/>
          </a:prstGeom>
          <a:noFill/>
          <a:ln/>
        </p:spPr>
        <p:txBody>
          <a:bodyPr wrap="square" rtlCol="0" anchor="ctr"/>
          <a:lstStyle/>
          <a:p>
            <a:pPr indent="0" marL="0">
              <a:buNone/>
            </a:pPr>
            <a:r>
              <a:rPr lang="en-US" sz="1800" b="1" dirty="0">
                <a:solidFill>
                  <a:srgbClr val="C9A84C"/>
                </a:solidFill>
                <a:latin typeface="Calibri" pitchFamily="34" charset="0"/>
                <a:ea typeface="Calibri" pitchFamily="34" charset="-122"/>
                <a:cs typeface="Calibri" pitchFamily="34" charset="-120"/>
              </a:rPr>
              <a:t>Below-Market Basis</a:t>
            </a:r>
            <a:endParaRPr lang="en-US" sz="1800" dirty="0"/>
          </a:p>
        </p:txBody>
      </p:sp>
      <p:sp>
        <p:nvSpPr>
          <p:cNvPr id="21" name="Shape 19"/>
          <p:cNvSpPr/>
          <p:nvPr/>
        </p:nvSpPr>
        <p:spPr>
          <a:xfrm>
            <a:off x="609600" y="4064000"/>
            <a:ext cx="50800" cy="2133600"/>
          </a:xfrm>
          <a:prstGeom prst="rect">
            <a:avLst/>
          </a:prstGeom>
          <a:solidFill>
            <a:srgbClr val="C9A84C"/>
          </a:solidFill>
          <a:ln w="12700">
            <a:solidFill>
              <a:srgbClr val="C9A84C"/>
            </a:solidFill>
            <a:prstDash val="solid"/>
          </a:ln>
        </p:spPr>
      </p:sp>
      <p:sp>
        <p:nvSpPr>
          <p:cNvPr id="22" name="Text 20"/>
          <p:cNvSpPr/>
          <p:nvPr/>
        </p:nvSpPr>
        <p:spPr>
          <a:xfrm>
            <a:off x="711200" y="4470400"/>
            <a:ext cx="5130800" cy="1727200"/>
          </a:xfrm>
          <a:prstGeom prst="rect">
            <a:avLst/>
          </a:prstGeom>
          <a:noFill/>
          <a:ln/>
        </p:spPr>
        <p:txBody>
          <a:bodyPr wrap="square" rtlCol="0" anchor="t"/>
          <a:lstStyle/>
          <a:p>
            <a:pPr indent="0" marL="0">
              <a:lnSpc>
                <a:spcPct val="145000"/>
              </a:lnSpc>
              <a:buNone/>
            </a:pPr>
            <a:r>
              <a:rPr lang="en-US" sz="1300" dirty="0">
                <a:solidFill>
                  <a:srgbClr val="C8D8E8"/>
                </a:solidFill>
                <a:latin typeface="Calibri" pitchFamily="34" charset="0"/>
                <a:ea typeface="Calibri" pitchFamily="34" charset="-122"/>
                <a:cs typeface="Calibri" pitchFamily="34" charset="-120"/>
              </a:rPr>
              <a:t>Offered at $191,667/unit — a meaningful discount to replacement cost of $280K+/unit for comparable new construction in the corridor.</a:t>
            </a:r>
            <a:endParaRPr lang="en-US" sz="1300" dirty="0"/>
          </a:p>
        </p:txBody>
      </p:sp>
      <p:sp>
        <p:nvSpPr>
          <p:cNvPr id="23" name="Shape 21"/>
          <p:cNvSpPr/>
          <p:nvPr/>
        </p:nvSpPr>
        <p:spPr>
          <a:xfrm>
            <a:off x="6248400" y="3860800"/>
            <a:ext cx="5537200" cy="2438400"/>
          </a:xfrm>
          <a:prstGeom prst="rect">
            <a:avLst/>
          </a:prstGeom>
          <a:solidFill>
            <a:srgbClr val="243F63"/>
          </a:solidFill>
          <a:ln/>
        </p:spPr>
      </p:sp>
      <p:sp>
        <p:nvSpPr>
          <p:cNvPr id="24" name="Shape 22"/>
          <p:cNvSpPr/>
          <p:nvPr/>
        </p:nvSpPr>
        <p:spPr>
          <a:xfrm>
            <a:off x="6248400" y="3860800"/>
            <a:ext cx="5537200" cy="50800"/>
          </a:xfrm>
          <a:prstGeom prst="rect">
            <a:avLst/>
          </a:prstGeom>
          <a:solidFill>
            <a:srgbClr val="C9A84C"/>
          </a:solidFill>
          <a:ln w="12700">
            <a:solidFill>
              <a:srgbClr val="C9A84C"/>
            </a:solidFill>
            <a:prstDash val="solid"/>
          </a:ln>
        </p:spPr>
      </p:sp>
      <p:sp>
        <p:nvSpPr>
          <p:cNvPr id="25" name="Text 23"/>
          <p:cNvSpPr/>
          <p:nvPr/>
        </p:nvSpPr>
        <p:spPr>
          <a:xfrm>
            <a:off x="6451600" y="4013200"/>
            <a:ext cx="5130800" cy="355600"/>
          </a:xfrm>
          <a:prstGeom prst="rect">
            <a:avLst/>
          </a:prstGeom>
          <a:noFill/>
          <a:ln/>
        </p:spPr>
        <p:txBody>
          <a:bodyPr wrap="square" rtlCol="0" anchor="ctr"/>
          <a:lstStyle/>
          <a:p>
            <a:pPr indent="0" marL="0">
              <a:buNone/>
            </a:pPr>
            <a:r>
              <a:rPr lang="en-US" sz="1800" b="1" dirty="0">
                <a:solidFill>
                  <a:srgbClr val="C9A84C"/>
                </a:solidFill>
                <a:latin typeface="Calibri" pitchFamily="34" charset="0"/>
                <a:ea typeface="Calibri" pitchFamily="34" charset="-122"/>
                <a:cs typeface="Calibri" pitchFamily="34" charset="-120"/>
              </a:rPr>
              <a:t>Stable In-Place Cash Flow</a:t>
            </a:r>
            <a:endParaRPr lang="en-US" sz="1800" dirty="0"/>
          </a:p>
        </p:txBody>
      </p:sp>
      <p:sp>
        <p:nvSpPr>
          <p:cNvPr id="26" name="Shape 24"/>
          <p:cNvSpPr/>
          <p:nvPr/>
        </p:nvSpPr>
        <p:spPr>
          <a:xfrm>
            <a:off x="6400800" y="4064000"/>
            <a:ext cx="50800" cy="2133600"/>
          </a:xfrm>
          <a:prstGeom prst="rect">
            <a:avLst/>
          </a:prstGeom>
          <a:solidFill>
            <a:srgbClr val="C9A84C"/>
          </a:solidFill>
          <a:ln w="12700">
            <a:solidFill>
              <a:srgbClr val="C9A84C"/>
            </a:solidFill>
            <a:prstDash val="solid"/>
          </a:ln>
        </p:spPr>
      </p:sp>
      <p:sp>
        <p:nvSpPr>
          <p:cNvPr id="27" name="Text 25"/>
          <p:cNvSpPr/>
          <p:nvPr/>
        </p:nvSpPr>
        <p:spPr>
          <a:xfrm>
            <a:off x="6502400" y="4470400"/>
            <a:ext cx="5130800" cy="1727200"/>
          </a:xfrm>
          <a:prstGeom prst="rect">
            <a:avLst/>
          </a:prstGeom>
          <a:noFill/>
          <a:ln/>
        </p:spPr>
        <p:txBody>
          <a:bodyPr wrap="square" rtlCol="0" anchor="t"/>
          <a:lstStyle/>
          <a:p>
            <a:pPr indent="0" marL="0">
              <a:lnSpc>
                <a:spcPct val="145000"/>
              </a:lnSpc>
              <a:buNone/>
            </a:pPr>
            <a:r>
              <a:rPr lang="en-US" sz="1300" dirty="0">
                <a:solidFill>
                  <a:srgbClr val="C8D8E8"/>
                </a:solidFill>
                <a:latin typeface="Calibri" pitchFamily="34" charset="0"/>
                <a:ea typeface="Calibri" pitchFamily="34" charset="-122"/>
                <a:cs typeface="Calibri" pitchFamily="34" charset="-120"/>
              </a:rPr>
              <a:t>96.2% current occupancy with long-tenured resident base provides a stable income foundation throughout renovation program execution.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PROPERTY OVERVIEW</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04</a:t>
            </a:r>
            <a:endParaRPr lang="en-US" sz="900" dirty="0"/>
          </a:p>
        </p:txBody>
      </p:sp>
      <p:sp>
        <p:nvSpPr>
          <p:cNvPr id="8" name="Shape 6"/>
          <p:cNvSpPr/>
          <p:nvPr/>
        </p:nvSpPr>
        <p:spPr>
          <a:xfrm>
            <a:off x="457200" y="1168400"/>
            <a:ext cx="5181600" cy="2997200"/>
          </a:xfrm>
          <a:prstGeom prst="rect">
            <a:avLst/>
          </a:prstGeom>
          <a:solidFill>
            <a:srgbClr val="D8DDE5"/>
          </a:solidFill>
          <a:ln w="12700">
            <a:solidFill>
              <a:srgbClr val="BBBBBB"/>
            </a:solidFill>
            <a:prstDash val="solid"/>
          </a:ln>
        </p:spPr>
      </p:sp>
      <p:sp>
        <p:nvSpPr>
          <p:cNvPr id="9" name="Text 7"/>
          <p:cNvSpPr/>
          <p:nvPr/>
        </p:nvSpPr>
        <p:spPr>
          <a:xfrm>
            <a:off x="457200" y="1168400"/>
            <a:ext cx="5181600" cy="2997200"/>
          </a:xfrm>
          <a:prstGeom prst="rect">
            <a:avLst/>
          </a:prstGeom>
          <a:noFill/>
          <a:ln/>
        </p:spPr>
        <p:txBody>
          <a:bodyPr wrap="square" rtlCol="0" anchor="ctr"/>
          <a:lstStyle/>
          <a:p>
            <a:pPr algn="ctr" indent="0" marL="0">
              <a:buNone/>
            </a:pPr>
            <a:r>
              <a:rPr lang="en-US" sz="1100" i="1" dirty="0">
                <a:solidFill>
                  <a:srgbClr val="AAAAAA"/>
                </a:solidFill>
                <a:latin typeface="Calibri" pitchFamily="34" charset="0"/>
                <a:ea typeface="Calibri" pitchFamily="34" charset="-122"/>
                <a:cs typeface="Calibri" pitchFamily="34" charset="-120"/>
              </a:rPr>
              <a:t>PHOTO</a:t>
            </a:r>
            <a:endParaRPr lang="en-US" sz="1100" dirty="0"/>
          </a:p>
        </p:txBody>
      </p:sp>
      <p:sp>
        <p:nvSpPr>
          <p:cNvPr id="10" name="Shape 8"/>
          <p:cNvSpPr/>
          <p:nvPr/>
        </p:nvSpPr>
        <p:spPr>
          <a:xfrm>
            <a:off x="457200" y="4318000"/>
            <a:ext cx="2438400" cy="1930400"/>
          </a:xfrm>
          <a:prstGeom prst="rect">
            <a:avLst/>
          </a:prstGeom>
          <a:solidFill>
            <a:srgbClr val="D8DDE5"/>
          </a:solidFill>
          <a:ln w="12700">
            <a:solidFill>
              <a:srgbClr val="BBBBBB"/>
            </a:solidFill>
            <a:prstDash val="solid"/>
          </a:ln>
        </p:spPr>
      </p:sp>
      <p:sp>
        <p:nvSpPr>
          <p:cNvPr id="11" name="Text 9"/>
          <p:cNvSpPr/>
          <p:nvPr/>
        </p:nvSpPr>
        <p:spPr>
          <a:xfrm>
            <a:off x="457200" y="4318000"/>
            <a:ext cx="2438400" cy="1930400"/>
          </a:xfrm>
          <a:prstGeom prst="rect">
            <a:avLst/>
          </a:prstGeom>
          <a:noFill/>
          <a:ln/>
        </p:spPr>
        <p:txBody>
          <a:bodyPr wrap="square" rtlCol="0" anchor="ctr"/>
          <a:lstStyle/>
          <a:p>
            <a:pPr algn="ctr" indent="0" marL="0">
              <a:buNone/>
            </a:pPr>
            <a:r>
              <a:rPr lang="en-US" sz="1100" i="1" dirty="0">
                <a:solidFill>
                  <a:srgbClr val="AAAAAA"/>
                </a:solidFill>
                <a:latin typeface="Calibri" pitchFamily="34" charset="0"/>
                <a:ea typeface="Calibri" pitchFamily="34" charset="-122"/>
                <a:cs typeface="Calibri" pitchFamily="34" charset="-120"/>
              </a:rPr>
              <a:t>PHOTO</a:t>
            </a:r>
            <a:endParaRPr lang="en-US" sz="1100" dirty="0"/>
          </a:p>
        </p:txBody>
      </p:sp>
      <p:sp>
        <p:nvSpPr>
          <p:cNvPr id="12" name="Shape 10"/>
          <p:cNvSpPr/>
          <p:nvPr/>
        </p:nvSpPr>
        <p:spPr>
          <a:xfrm>
            <a:off x="3048000" y="4318000"/>
            <a:ext cx="2590800" cy="1930400"/>
          </a:xfrm>
          <a:prstGeom prst="rect">
            <a:avLst/>
          </a:prstGeom>
          <a:solidFill>
            <a:srgbClr val="D8DDE5"/>
          </a:solidFill>
          <a:ln w="12700">
            <a:solidFill>
              <a:srgbClr val="BBBBBB"/>
            </a:solidFill>
            <a:prstDash val="solid"/>
          </a:ln>
        </p:spPr>
      </p:sp>
      <p:sp>
        <p:nvSpPr>
          <p:cNvPr id="13" name="Text 11"/>
          <p:cNvSpPr/>
          <p:nvPr/>
        </p:nvSpPr>
        <p:spPr>
          <a:xfrm>
            <a:off x="3048000" y="4318000"/>
            <a:ext cx="2590800" cy="1930400"/>
          </a:xfrm>
          <a:prstGeom prst="rect">
            <a:avLst/>
          </a:prstGeom>
          <a:noFill/>
          <a:ln/>
        </p:spPr>
        <p:txBody>
          <a:bodyPr wrap="square" rtlCol="0" anchor="ctr"/>
          <a:lstStyle/>
          <a:p>
            <a:pPr algn="ctr" indent="0" marL="0">
              <a:buNone/>
            </a:pPr>
            <a:r>
              <a:rPr lang="en-US" sz="1100" i="1" dirty="0">
                <a:solidFill>
                  <a:srgbClr val="AAAAAA"/>
                </a:solidFill>
                <a:latin typeface="Calibri" pitchFamily="34" charset="0"/>
                <a:ea typeface="Calibri" pitchFamily="34" charset="-122"/>
                <a:cs typeface="Calibri" pitchFamily="34" charset="-120"/>
              </a:rPr>
              <a:t>PHOTO</a:t>
            </a:r>
            <a:endParaRPr lang="en-US" sz="1100" dirty="0"/>
          </a:p>
        </p:txBody>
      </p:sp>
      <p:sp>
        <p:nvSpPr>
          <p:cNvPr id="14" name="Text 12"/>
          <p:cNvSpPr/>
          <p:nvPr/>
        </p:nvSpPr>
        <p:spPr>
          <a:xfrm>
            <a:off x="5892800" y="1168400"/>
            <a:ext cx="5892800" cy="304800"/>
          </a:xfrm>
          <a:prstGeom prst="rect">
            <a:avLst/>
          </a:prstGeom>
          <a:noFill/>
          <a:ln/>
        </p:spPr>
        <p:txBody>
          <a:bodyPr wrap="square" rtlCol="0" anchor="ctr"/>
          <a:lstStyle/>
          <a:p>
            <a:pPr indent="0" marL="0">
              <a:buNone/>
            </a:pPr>
            <a:r>
              <a:rPr lang="en-US" sz="1800" b="1" spc="50" kern="0" dirty="0">
                <a:solidFill>
                  <a:srgbClr val="C9A84C"/>
                </a:solidFill>
                <a:latin typeface="Calibri" pitchFamily="34" charset="0"/>
                <a:ea typeface="Calibri" pitchFamily="34" charset="-122"/>
                <a:cs typeface="Calibri" pitchFamily="34" charset="-120"/>
              </a:rPr>
              <a:t>ABOUT THE PROPERTY</a:t>
            </a:r>
            <a:endParaRPr lang="en-US" sz="1800" dirty="0"/>
          </a:p>
        </p:txBody>
      </p:sp>
      <p:sp>
        <p:nvSpPr>
          <p:cNvPr id="15" name="Shape 13"/>
          <p:cNvSpPr/>
          <p:nvPr/>
        </p:nvSpPr>
        <p:spPr>
          <a:xfrm>
            <a:off x="5892800" y="1473200"/>
            <a:ext cx="5892800" cy="18288"/>
          </a:xfrm>
          <a:prstGeom prst="rect">
            <a:avLst/>
          </a:prstGeom>
          <a:solidFill>
            <a:srgbClr val="C9A84C"/>
          </a:solidFill>
          <a:ln w="12700">
            <a:solidFill>
              <a:srgbClr val="C9A84C"/>
            </a:solidFill>
            <a:prstDash val="solid"/>
          </a:ln>
        </p:spPr>
      </p:sp>
      <p:sp>
        <p:nvSpPr>
          <p:cNvPr id="16" name="Text 14"/>
          <p:cNvSpPr/>
          <p:nvPr/>
        </p:nvSpPr>
        <p:spPr>
          <a:xfrm>
            <a:off x="5892800" y="1625600"/>
            <a:ext cx="5892800" cy="1422400"/>
          </a:xfrm>
          <a:prstGeom prst="rect">
            <a:avLst/>
          </a:prstGeom>
          <a:noFill/>
          <a:ln/>
        </p:spPr>
        <p:txBody>
          <a:bodyPr wrap="square" rtlCol="0" anchor="t"/>
          <a:lstStyle/>
          <a:p>
            <a:pPr indent="0" marL="0">
              <a:lnSpc>
                <a:spcPct val="145000"/>
              </a:lnSpc>
              <a:buNone/>
            </a:pPr>
            <a:r>
              <a:rPr lang="en-US" sz="1300" dirty="0">
                <a:solidFill>
                  <a:srgbClr val="333333"/>
                </a:solidFill>
                <a:latin typeface="Calibri" pitchFamily="34" charset="0"/>
                <a:ea typeface="Calibri" pitchFamily="34" charset="-122"/>
                <a:cs typeface="Calibri" pitchFamily="34" charset="-120"/>
              </a:rPr>
              <a:t>The Meridian is a well-maintained 48-unit multifamily community positioned in the heart of Denver’s emerging Five Points corridor. The property presents a compelling value-add opportunity through strategic interior renovations and operational improvements, with significant upside to market rents currently running 8–12% below comparable repositioned assets in the submarket.</a:t>
            </a:r>
            <a:endParaRPr lang="en-US" sz="1300" dirty="0"/>
          </a:p>
        </p:txBody>
      </p:sp>
      <p:sp>
        <p:nvSpPr>
          <p:cNvPr id="17" name="Text 15"/>
          <p:cNvSpPr/>
          <p:nvPr/>
        </p:nvSpPr>
        <p:spPr>
          <a:xfrm>
            <a:off x="5892800" y="3200400"/>
            <a:ext cx="5892800" cy="304800"/>
          </a:xfrm>
          <a:prstGeom prst="rect">
            <a:avLst/>
          </a:prstGeom>
          <a:noFill/>
          <a:ln/>
        </p:spPr>
        <p:txBody>
          <a:bodyPr wrap="square" rtlCol="0" anchor="ctr"/>
          <a:lstStyle/>
          <a:p>
            <a:pPr indent="0" marL="0">
              <a:buNone/>
            </a:pPr>
            <a:r>
              <a:rPr lang="en-US" sz="1800" b="1" spc="50" kern="0" dirty="0">
                <a:solidFill>
                  <a:srgbClr val="C9A84C"/>
                </a:solidFill>
                <a:latin typeface="Calibri" pitchFamily="34" charset="0"/>
                <a:ea typeface="Calibri" pitchFamily="34" charset="-122"/>
                <a:cs typeface="Calibri" pitchFamily="34" charset="-120"/>
              </a:rPr>
              <a:t>PROPERTY HIGHLIGHTS</a:t>
            </a:r>
            <a:endParaRPr lang="en-US" sz="1800" dirty="0"/>
          </a:p>
        </p:txBody>
      </p:sp>
      <p:sp>
        <p:nvSpPr>
          <p:cNvPr id="18" name="Shape 16"/>
          <p:cNvSpPr/>
          <p:nvPr/>
        </p:nvSpPr>
        <p:spPr>
          <a:xfrm>
            <a:off x="5892800" y="3505200"/>
            <a:ext cx="5892800" cy="18288"/>
          </a:xfrm>
          <a:prstGeom prst="rect">
            <a:avLst/>
          </a:prstGeom>
          <a:solidFill>
            <a:srgbClr val="C9A84C"/>
          </a:solidFill>
          <a:ln w="12700">
            <a:solidFill>
              <a:srgbClr val="C9A84C"/>
            </a:solidFill>
            <a:prstDash val="solid"/>
          </a:ln>
        </p:spPr>
      </p:sp>
      <p:sp>
        <p:nvSpPr>
          <p:cNvPr id="19" name="Text 17"/>
          <p:cNvSpPr/>
          <p:nvPr/>
        </p:nvSpPr>
        <p:spPr>
          <a:xfrm>
            <a:off x="5892800" y="3556000"/>
            <a:ext cx="5892800" cy="1625600"/>
          </a:xfrm>
          <a:prstGeom prst="rect">
            <a:avLst/>
          </a:prstGeom>
          <a:noFill/>
          <a:ln/>
        </p:spPr>
        <p:txBody>
          <a:bodyPr wrap="square" rtlCol="0" anchor="t"/>
          <a:lstStyle/>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Gated Parking</a:t>
            </a:r>
            <a:endParaRPr lang="en-US" sz="1300" dirty="0"/>
          </a:p>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Rooftop Terrace</a:t>
            </a:r>
            <a:endParaRPr lang="en-US" sz="1300" dirty="0"/>
          </a:p>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Fitness Center</a:t>
            </a:r>
            <a:endParaRPr lang="en-US" sz="1300" dirty="0"/>
          </a:p>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Package Lockers</a:t>
            </a:r>
            <a:endParaRPr lang="en-US" sz="1300" dirty="0"/>
          </a:p>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Pet-Friendly</a:t>
            </a:r>
            <a:endParaRPr lang="en-US" sz="1300" dirty="0"/>
          </a:p>
          <a:p>
            <a:pPr indent="0" marL="0">
              <a:lnSpc>
                <a:spcPct val="150000"/>
              </a:lnSpc>
              <a:buNone/>
            </a:pPr>
            <a:r>
              <a:rPr lang="en-US" sz="1300" dirty="0">
                <a:solidFill>
                  <a:srgbClr val="333333"/>
                </a:solidFill>
                <a:latin typeface="Calibri" pitchFamily="34" charset="0"/>
                <a:ea typeface="Calibri" pitchFamily="34" charset="-122"/>
                <a:cs typeface="Calibri" pitchFamily="34" charset="-120"/>
              </a:rPr>
              <a:t>• On-Site Laundry</a:t>
            </a:r>
            <a:endParaRPr lang="en-US" sz="1300" dirty="0"/>
          </a:p>
        </p:txBody>
      </p:sp>
      <p:sp>
        <p:nvSpPr>
          <p:cNvPr id="20" name="Shape 18"/>
          <p:cNvSpPr/>
          <p:nvPr/>
        </p:nvSpPr>
        <p:spPr>
          <a:xfrm>
            <a:off x="6858000" y="5588000"/>
            <a:ext cx="1270000" cy="406400"/>
          </a:xfrm>
          <a:prstGeom prst="rect">
            <a:avLst/>
          </a:prstGeom>
          <a:solidFill>
            <a:srgbClr val="1B3A5C"/>
          </a:solidFill>
          <a:ln/>
        </p:spPr>
      </p:sp>
      <p:sp>
        <p:nvSpPr>
          <p:cNvPr id="21" name="Text 19"/>
          <p:cNvSpPr/>
          <p:nvPr/>
        </p:nvSpPr>
        <p:spPr>
          <a:xfrm>
            <a:off x="6858000" y="5588000"/>
            <a:ext cx="1270000" cy="203200"/>
          </a:xfrm>
          <a:prstGeom prst="rect">
            <a:avLst/>
          </a:prstGeom>
          <a:noFill/>
          <a:ln/>
        </p:spPr>
        <p:txBody>
          <a:bodyPr wrap="square"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1987</a:t>
            </a:r>
            <a:endParaRPr lang="en-US" sz="1100" dirty="0"/>
          </a:p>
        </p:txBody>
      </p:sp>
      <p:sp>
        <p:nvSpPr>
          <p:cNvPr id="22" name="Text 20"/>
          <p:cNvSpPr/>
          <p:nvPr/>
        </p:nvSpPr>
        <p:spPr>
          <a:xfrm>
            <a:off x="6858000" y="5791200"/>
            <a:ext cx="1270000" cy="203200"/>
          </a:xfrm>
          <a:prstGeom prst="rect">
            <a:avLst/>
          </a:prstGeom>
          <a:noFill/>
          <a:ln/>
        </p:spPr>
        <p:txBody>
          <a:bodyPr wrap="square" rtlCol="0" anchor="t"/>
          <a:lstStyle/>
          <a:p>
            <a:pPr algn="ctr" indent="0" marL="0">
              <a:buNone/>
            </a:pPr>
            <a:r>
              <a:rPr lang="en-US" sz="800" spc="30" kern="0" dirty="0">
                <a:solidFill>
                  <a:srgbClr val="A0B4C8"/>
                </a:solidFill>
                <a:latin typeface="Calibri" pitchFamily="34" charset="0"/>
                <a:ea typeface="Calibri" pitchFamily="34" charset="-122"/>
                <a:cs typeface="Calibri" pitchFamily="34" charset="-120"/>
              </a:rPr>
              <a:t>YEAR BUILT</a:t>
            </a:r>
            <a:endParaRPr lang="en-US" sz="800" dirty="0"/>
          </a:p>
        </p:txBody>
      </p:sp>
      <p:sp>
        <p:nvSpPr>
          <p:cNvPr id="23" name="Shape 21"/>
          <p:cNvSpPr/>
          <p:nvPr/>
        </p:nvSpPr>
        <p:spPr>
          <a:xfrm>
            <a:off x="8229600" y="5588000"/>
            <a:ext cx="1270000" cy="406400"/>
          </a:xfrm>
          <a:prstGeom prst="rect">
            <a:avLst/>
          </a:prstGeom>
          <a:solidFill>
            <a:srgbClr val="1B3A5C"/>
          </a:solidFill>
          <a:ln/>
        </p:spPr>
      </p:sp>
      <p:sp>
        <p:nvSpPr>
          <p:cNvPr id="24" name="Text 22"/>
          <p:cNvSpPr/>
          <p:nvPr/>
        </p:nvSpPr>
        <p:spPr>
          <a:xfrm>
            <a:off x="8229600" y="5588000"/>
            <a:ext cx="1270000" cy="203200"/>
          </a:xfrm>
          <a:prstGeom prst="rect">
            <a:avLst/>
          </a:prstGeom>
          <a:noFill/>
          <a:ln/>
        </p:spPr>
        <p:txBody>
          <a:bodyPr wrap="square"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42,800</a:t>
            </a:r>
            <a:endParaRPr lang="en-US" sz="1100" dirty="0"/>
          </a:p>
        </p:txBody>
      </p:sp>
      <p:sp>
        <p:nvSpPr>
          <p:cNvPr id="25" name="Text 23"/>
          <p:cNvSpPr/>
          <p:nvPr/>
        </p:nvSpPr>
        <p:spPr>
          <a:xfrm>
            <a:off x="8229600" y="5791200"/>
            <a:ext cx="1270000" cy="203200"/>
          </a:xfrm>
          <a:prstGeom prst="rect">
            <a:avLst/>
          </a:prstGeom>
          <a:noFill/>
          <a:ln/>
        </p:spPr>
        <p:txBody>
          <a:bodyPr wrap="square" rtlCol="0" anchor="t"/>
          <a:lstStyle/>
          <a:p>
            <a:pPr algn="ctr" indent="0" marL="0">
              <a:buNone/>
            </a:pPr>
            <a:r>
              <a:rPr lang="en-US" sz="800" spc="30" kern="0" dirty="0">
                <a:solidFill>
                  <a:srgbClr val="A0B4C8"/>
                </a:solidFill>
                <a:latin typeface="Calibri" pitchFamily="34" charset="0"/>
                <a:ea typeface="Calibri" pitchFamily="34" charset="-122"/>
                <a:cs typeface="Calibri" pitchFamily="34" charset="-120"/>
              </a:rPr>
              <a:t>SQ FT</a:t>
            </a:r>
            <a:endParaRPr lang="en-US" sz="800" dirty="0"/>
          </a:p>
        </p:txBody>
      </p:sp>
      <p:sp>
        <p:nvSpPr>
          <p:cNvPr id="26" name="Shape 24"/>
          <p:cNvSpPr/>
          <p:nvPr/>
        </p:nvSpPr>
        <p:spPr>
          <a:xfrm>
            <a:off x="9601200" y="5588000"/>
            <a:ext cx="1270000" cy="406400"/>
          </a:xfrm>
          <a:prstGeom prst="rect">
            <a:avLst/>
          </a:prstGeom>
          <a:solidFill>
            <a:srgbClr val="1B3A5C"/>
          </a:solidFill>
          <a:ln/>
        </p:spPr>
      </p:sp>
      <p:sp>
        <p:nvSpPr>
          <p:cNvPr id="27" name="Text 25"/>
          <p:cNvSpPr/>
          <p:nvPr/>
        </p:nvSpPr>
        <p:spPr>
          <a:xfrm>
            <a:off x="9601200" y="5588000"/>
            <a:ext cx="1270000" cy="203200"/>
          </a:xfrm>
          <a:prstGeom prst="rect">
            <a:avLst/>
          </a:prstGeom>
          <a:noFill/>
          <a:ln/>
        </p:spPr>
        <p:txBody>
          <a:bodyPr wrap="square" rtlCol="0" anchor="b"/>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9601200" y="5791200"/>
            <a:ext cx="1270000" cy="203200"/>
          </a:xfrm>
          <a:prstGeom prst="rect">
            <a:avLst/>
          </a:prstGeom>
          <a:noFill/>
          <a:ln/>
        </p:spPr>
        <p:txBody>
          <a:bodyPr wrap="square" rtlCol="0" anchor="t"/>
          <a:lstStyle/>
          <a:p>
            <a:pPr algn="ctr" indent="0" marL="0">
              <a:buNone/>
            </a:pPr>
            <a:r>
              <a:rPr lang="en-US" sz="800" spc="30" kern="0" dirty="0">
                <a:solidFill>
                  <a:srgbClr val="A0B4C8"/>
                </a:solidFill>
                <a:latin typeface="Calibri" pitchFamily="34" charset="0"/>
                <a:ea typeface="Calibri" pitchFamily="34" charset="-122"/>
                <a:cs typeface="Calibri" pitchFamily="34" charset="-120"/>
              </a:rPr>
              <a:t>STORIES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UNIT MIX &amp; RENT ROLL</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05</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68400"/>
          <a:ext cx="11277600" cy="914400"/>
        </p:xfrm>
        <a:graphic>
          <a:graphicData uri="http://schemas.openxmlformats.org/drawingml/2006/table">
            <a:tbl>
              <a:tblPr/>
              <a:tblGrid>
                <a:gridCol w="2057400"/>
                <a:gridCol w="1005840"/>
                <a:gridCol w="1097280"/>
                <a:gridCol w="1600200"/>
                <a:gridCol w="1600200"/>
                <a:gridCol w="1956816"/>
                <a:gridCol w="1956816"/>
              </a:tblGrid>
              <a:tr h="406400">
                <a:tc>
                  <a:txBody>
                    <a:bodyPr/>
                    <a:lstStyle/>
                    <a:p>
                      <a:pPr algn="l" indent="0" marL="0">
                        <a:buNone/>
                      </a:pPr>
                      <a:r>
                        <a:rPr lang="en-US" sz="1100" b="1" spc="30" kern="0" dirty="0">
                          <a:solidFill>
                            <a:srgbClr val="C9A84C"/>
                          </a:solidFill>
                          <a:latin typeface="Calibri" pitchFamily="34" charset="0"/>
                          <a:ea typeface="Calibri" pitchFamily="34" charset="-122"/>
                          <a:cs typeface="Calibri" pitchFamily="34" charset="-120"/>
                        </a:rPr>
                        <a:t>UNIT TYPE</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 UNITS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AVG SF</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MARKET RENT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IN-PLACE RENT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MONTHLY REV</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ANNUAL REV</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r>
              <a:tr h="406400">
                <a:tc>
                  <a:txBody>
                    <a:bodyPr/>
                    <a:lstStyle/>
                    <a:p>
                      <a:pPr algn="l" indent="0" marL="0">
                        <a:buNone/>
                      </a:pPr>
                      <a:r>
                        <a:rPr lang="en-US" sz="1100" b="1" dirty="0">
                          <a:solidFill>
                            <a:srgbClr val="1B3A5C"/>
                          </a:solidFill>
                          <a:latin typeface="Calibri" pitchFamily="34" charset="0"/>
                          <a:ea typeface="Calibri" pitchFamily="34" charset="-122"/>
                          <a:cs typeface="Calibri" pitchFamily="34" charset="-120"/>
                        </a:rPr>
                        <a:t>Studio</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480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$1,250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$1,145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$6,870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$82,440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406400">
                <a:tc>
                  <a:txBody>
                    <a:bodyPr/>
                    <a:lstStyle/>
                    <a:p>
                      <a:pPr algn="l" indent="0" marL="0">
                        <a:buNone/>
                      </a:pPr>
                      <a:r>
                        <a:rPr lang="en-US" sz="1100" b="1" dirty="0">
                          <a:solidFill>
                            <a:srgbClr val="1B3A5C"/>
                          </a:solidFill>
                          <a:latin typeface="Calibri" pitchFamily="34" charset="0"/>
                          <a:ea typeface="Calibri" pitchFamily="34" charset="-122"/>
                          <a:cs typeface="Calibri" pitchFamily="34" charset="-120"/>
                        </a:rPr>
                        <a:t>1BD / 1BA</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680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$1,550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$1,415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$33,960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$407,520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406400">
                <a:tc>
                  <a:txBody>
                    <a:bodyPr/>
                    <a:lstStyle/>
                    <a:p>
                      <a:pPr algn="l" indent="0" marL="0">
                        <a:buNone/>
                      </a:pPr>
                      <a:r>
                        <a:rPr lang="en-US" sz="1100" b="1" dirty="0">
                          <a:solidFill>
                            <a:srgbClr val="1B3A5C"/>
                          </a:solidFill>
                          <a:latin typeface="Calibri" pitchFamily="34" charset="0"/>
                          <a:ea typeface="Calibri" pitchFamily="34" charset="-122"/>
                          <a:cs typeface="Calibri" pitchFamily="34" charset="-120"/>
                        </a:rPr>
                        <a:t>2BD / 1BA</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880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$1,950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$1,790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$21,480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$257,760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406400">
                <a:tc>
                  <a:txBody>
                    <a:bodyPr/>
                    <a:lstStyle/>
                    <a:p>
                      <a:pPr algn="l" indent="0" marL="0">
                        <a:buNone/>
                      </a:pPr>
                      <a:r>
                        <a:rPr lang="en-US" sz="1100" b="1" dirty="0">
                          <a:solidFill>
                            <a:srgbClr val="1B3A5C"/>
                          </a:solidFill>
                          <a:latin typeface="Calibri" pitchFamily="34" charset="0"/>
                          <a:ea typeface="Calibri" pitchFamily="34" charset="-122"/>
                          <a:cs typeface="Calibri" pitchFamily="34" charset="-120"/>
                        </a:rPr>
                        <a:t>2BD / 2BA</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1,020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$2,250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$2,080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$12,480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$149,760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4064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dirty="0">
                          <a:solidFill>
                            <a:srgbClr val="C9A84C"/>
                          </a:solidFill>
                          <a:latin typeface="Calibri" pitchFamily="34" charset="0"/>
                          <a:ea typeface="Calibri" pitchFamily="34" charset="-122"/>
                          <a:cs typeface="Calibri" pitchFamily="34" charset="-120"/>
                        </a:rPr>
                        <a:t>$74,790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dirty="0">
                          <a:solidFill>
                            <a:srgbClr val="C9A84C"/>
                          </a:solidFill>
                          <a:latin typeface="Calibri" pitchFamily="34" charset="0"/>
                          <a:ea typeface="Calibri" pitchFamily="34" charset="-122"/>
                          <a:cs typeface="Calibri" pitchFamily="34" charset="-120"/>
                        </a:rPr>
                        <a:t>$897,480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r>
            </a:tbl>
          </a:graphicData>
        </a:graphic>
      </p:graphicFrame>
      <p:sp>
        <p:nvSpPr>
          <p:cNvPr id="9" name="Shape 6"/>
          <p:cNvSpPr/>
          <p:nvPr/>
        </p:nvSpPr>
        <p:spPr>
          <a:xfrm>
            <a:off x="457200" y="3860800"/>
            <a:ext cx="3606800" cy="914400"/>
          </a:xfrm>
          <a:prstGeom prst="rect">
            <a:avLst/>
          </a:prstGeom>
          <a:solidFill>
            <a:srgbClr val="EEF2F7"/>
          </a:solidFill>
          <a:ln w="12700">
            <a:solidFill>
              <a:srgbClr val="DDDDDD"/>
            </a:solidFill>
            <a:prstDash val="solid"/>
          </a:ln>
        </p:spPr>
      </p:sp>
      <p:sp>
        <p:nvSpPr>
          <p:cNvPr id="10" name="Shape 7"/>
          <p:cNvSpPr/>
          <p:nvPr/>
        </p:nvSpPr>
        <p:spPr>
          <a:xfrm>
            <a:off x="457200" y="3860800"/>
            <a:ext cx="3606800" cy="36576"/>
          </a:xfrm>
          <a:prstGeom prst="rect">
            <a:avLst/>
          </a:prstGeom>
          <a:solidFill>
            <a:srgbClr val="C9A84C"/>
          </a:solidFill>
          <a:ln w="12700">
            <a:solidFill>
              <a:srgbClr val="C9A84C"/>
            </a:solidFill>
            <a:prstDash val="solid"/>
          </a:ln>
        </p:spPr>
      </p:sp>
      <p:sp>
        <p:nvSpPr>
          <p:cNvPr id="11" name="Text 8"/>
          <p:cNvSpPr/>
          <p:nvPr/>
        </p:nvSpPr>
        <p:spPr>
          <a:xfrm>
            <a:off x="566928" y="3933952"/>
            <a:ext cx="3387344" cy="508000"/>
          </a:xfrm>
          <a:prstGeom prst="rect">
            <a:avLst/>
          </a:prstGeom>
          <a:noFill/>
          <a:ln/>
        </p:spPr>
        <p:txBody>
          <a:bodyPr wrap="square" rtlCol="0" anchor="ctr">
            <a:normAutofit/>
          </a:bodyPr>
          <a:lstStyle/>
          <a:p>
            <a:pPr algn="ctr" indent="0" marL="0">
              <a:buNone/>
            </a:pPr>
            <a:r>
              <a:rPr lang="en-US" sz="2200" b="1" dirty="0">
                <a:solidFill>
                  <a:srgbClr val="1B3A5C"/>
                </a:solidFill>
                <a:latin typeface="Georgia" pitchFamily="34" charset="0"/>
                <a:ea typeface="Georgia" pitchFamily="34" charset="-122"/>
                <a:cs typeface="Georgia" pitchFamily="34" charset="-120"/>
              </a:rPr>
              <a:t>$74,790</a:t>
            </a:r>
            <a:endParaRPr lang="en-US" sz="2200" dirty="0"/>
          </a:p>
        </p:txBody>
      </p:sp>
      <p:sp>
        <p:nvSpPr>
          <p:cNvPr id="12" name="Text 9"/>
          <p:cNvSpPr/>
          <p:nvPr/>
        </p:nvSpPr>
        <p:spPr>
          <a:xfrm>
            <a:off x="566928" y="4470400"/>
            <a:ext cx="3387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TOTAL MONTHLY INCOME</a:t>
            </a:r>
            <a:endParaRPr lang="en-US" sz="1100" dirty="0"/>
          </a:p>
        </p:txBody>
      </p:sp>
      <p:sp>
        <p:nvSpPr>
          <p:cNvPr id="13" name="Shape 10"/>
          <p:cNvSpPr/>
          <p:nvPr/>
        </p:nvSpPr>
        <p:spPr>
          <a:xfrm>
            <a:off x="4318000" y="3860800"/>
            <a:ext cx="3606800" cy="914400"/>
          </a:xfrm>
          <a:prstGeom prst="rect">
            <a:avLst/>
          </a:prstGeom>
          <a:solidFill>
            <a:srgbClr val="EEF2F7"/>
          </a:solidFill>
          <a:ln w="12700">
            <a:solidFill>
              <a:srgbClr val="DDDDDD"/>
            </a:solidFill>
            <a:prstDash val="solid"/>
          </a:ln>
        </p:spPr>
      </p:sp>
      <p:sp>
        <p:nvSpPr>
          <p:cNvPr id="14" name="Shape 11"/>
          <p:cNvSpPr/>
          <p:nvPr/>
        </p:nvSpPr>
        <p:spPr>
          <a:xfrm>
            <a:off x="4318000" y="3860800"/>
            <a:ext cx="3606800" cy="36576"/>
          </a:xfrm>
          <a:prstGeom prst="rect">
            <a:avLst/>
          </a:prstGeom>
          <a:solidFill>
            <a:srgbClr val="C9A84C"/>
          </a:solidFill>
          <a:ln w="12700">
            <a:solidFill>
              <a:srgbClr val="C9A84C"/>
            </a:solidFill>
            <a:prstDash val="solid"/>
          </a:ln>
        </p:spPr>
      </p:sp>
      <p:sp>
        <p:nvSpPr>
          <p:cNvPr id="15" name="Text 12"/>
          <p:cNvSpPr/>
          <p:nvPr/>
        </p:nvSpPr>
        <p:spPr>
          <a:xfrm>
            <a:off x="4427728" y="3933952"/>
            <a:ext cx="3387344" cy="508000"/>
          </a:xfrm>
          <a:prstGeom prst="rect">
            <a:avLst/>
          </a:prstGeom>
          <a:noFill/>
          <a:ln/>
        </p:spPr>
        <p:txBody>
          <a:bodyPr wrap="square" rtlCol="0" anchor="ctr">
            <a:normAutofit/>
          </a:bodyPr>
          <a:lstStyle/>
          <a:p>
            <a:pPr algn="ctr" indent="0" marL="0">
              <a:buNone/>
            </a:pPr>
            <a:r>
              <a:rPr lang="en-US" sz="2200" b="1" dirty="0">
                <a:solidFill>
                  <a:srgbClr val="1B3A5C"/>
                </a:solidFill>
                <a:latin typeface="Georgia" pitchFamily="34" charset="0"/>
                <a:ea typeface="Georgia" pitchFamily="34" charset="-122"/>
                <a:cs typeface="Georgia" pitchFamily="34" charset="-120"/>
              </a:rPr>
              <a:t>$897,480</a:t>
            </a:r>
            <a:endParaRPr lang="en-US" sz="2200" dirty="0"/>
          </a:p>
        </p:txBody>
      </p:sp>
      <p:sp>
        <p:nvSpPr>
          <p:cNvPr id="16" name="Text 13"/>
          <p:cNvSpPr/>
          <p:nvPr/>
        </p:nvSpPr>
        <p:spPr>
          <a:xfrm>
            <a:off x="4427728" y="4470400"/>
            <a:ext cx="3387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ANNUAL GROSS REVENUE</a:t>
            </a:r>
            <a:endParaRPr lang="en-US" sz="1100" dirty="0"/>
          </a:p>
        </p:txBody>
      </p:sp>
      <p:sp>
        <p:nvSpPr>
          <p:cNvPr id="17" name="Shape 14"/>
          <p:cNvSpPr/>
          <p:nvPr/>
        </p:nvSpPr>
        <p:spPr>
          <a:xfrm>
            <a:off x="8128000" y="3860800"/>
            <a:ext cx="3606800" cy="914400"/>
          </a:xfrm>
          <a:prstGeom prst="rect">
            <a:avLst/>
          </a:prstGeom>
          <a:solidFill>
            <a:srgbClr val="EEF2F7"/>
          </a:solidFill>
          <a:ln w="12700">
            <a:solidFill>
              <a:srgbClr val="DDDDDD"/>
            </a:solidFill>
            <a:prstDash val="solid"/>
          </a:ln>
        </p:spPr>
      </p:sp>
      <p:sp>
        <p:nvSpPr>
          <p:cNvPr id="18" name="Shape 15"/>
          <p:cNvSpPr/>
          <p:nvPr/>
        </p:nvSpPr>
        <p:spPr>
          <a:xfrm>
            <a:off x="8128000" y="3860800"/>
            <a:ext cx="3606800" cy="36576"/>
          </a:xfrm>
          <a:prstGeom prst="rect">
            <a:avLst/>
          </a:prstGeom>
          <a:solidFill>
            <a:srgbClr val="C9A84C"/>
          </a:solidFill>
          <a:ln w="12700">
            <a:solidFill>
              <a:srgbClr val="C9A84C"/>
            </a:solidFill>
            <a:prstDash val="solid"/>
          </a:ln>
        </p:spPr>
      </p:sp>
      <p:sp>
        <p:nvSpPr>
          <p:cNvPr id="19" name="Text 16"/>
          <p:cNvSpPr/>
          <p:nvPr/>
        </p:nvSpPr>
        <p:spPr>
          <a:xfrm>
            <a:off x="8237728" y="3933952"/>
            <a:ext cx="3387344" cy="508000"/>
          </a:xfrm>
          <a:prstGeom prst="rect">
            <a:avLst/>
          </a:prstGeom>
          <a:noFill/>
          <a:ln/>
        </p:spPr>
        <p:txBody>
          <a:bodyPr wrap="square" rtlCol="0" anchor="ctr">
            <a:normAutofit/>
          </a:bodyPr>
          <a:lstStyle/>
          <a:p>
            <a:pPr algn="ctr" indent="0" marL="0">
              <a:buNone/>
            </a:pPr>
            <a:r>
              <a:rPr lang="en-US" sz="2200" b="1" dirty="0">
                <a:solidFill>
                  <a:srgbClr val="1B3A5C"/>
                </a:solidFill>
                <a:latin typeface="Georgia" pitchFamily="34" charset="0"/>
                <a:ea typeface="Georgia" pitchFamily="34" charset="-122"/>
                <a:cs typeface="Georgia" pitchFamily="34" charset="-120"/>
              </a:rPr>
              <a:t>$1,558/mo</a:t>
            </a:r>
            <a:endParaRPr lang="en-US" sz="2200" dirty="0"/>
          </a:p>
        </p:txBody>
      </p:sp>
      <p:sp>
        <p:nvSpPr>
          <p:cNvPr id="20" name="Text 17"/>
          <p:cNvSpPr/>
          <p:nvPr/>
        </p:nvSpPr>
        <p:spPr>
          <a:xfrm>
            <a:off x="8237728" y="4470400"/>
            <a:ext cx="33873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AVG IN-PLACE RENT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0" y="1371600"/>
            <a:ext cx="12188952" cy="3200400"/>
          </a:xfrm>
          <a:prstGeom prst="rect">
            <a:avLst/>
          </a:prstGeom>
          <a:noFill/>
          <a:ln/>
        </p:spPr>
        <p:txBody>
          <a:bodyPr wrap="square" rtlCol="0" anchor="ctr"/>
          <a:lstStyle/>
          <a:p>
            <a:pPr algn="ctr" indent="0" marL="0">
              <a:buNone/>
            </a:pPr>
            <a:r>
              <a:rPr lang="en-US" sz="12000" b="1" spc="800" kern="0" dirty="0">
                <a:solidFill>
                  <a:srgbClr val="243F63"/>
                </a:solidFill>
                <a:latin typeface="Georgia" pitchFamily="34" charset="0"/>
                <a:ea typeface="Georgia" pitchFamily="34" charset="-122"/>
                <a:cs typeface="Georgia" pitchFamily="34" charset="-120"/>
              </a:rPr>
              <a:t>02</a:t>
            </a:r>
            <a:endParaRPr lang="en-US" sz="12000" dirty="0"/>
          </a:p>
        </p:txBody>
      </p:sp>
      <p:sp>
        <p:nvSpPr>
          <p:cNvPr id="3" name="Text 1"/>
          <p:cNvSpPr/>
          <p:nvPr/>
        </p:nvSpPr>
        <p:spPr>
          <a:xfrm>
            <a:off x="0" y="2794000"/>
            <a:ext cx="12188952" cy="203200"/>
          </a:xfrm>
          <a:prstGeom prst="rect">
            <a:avLst/>
          </a:prstGeom>
          <a:noFill/>
          <a:ln/>
        </p:spPr>
        <p:txBody>
          <a:bodyPr wrap="square" rtlCol="0" anchor="ctr"/>
          <a:lstStyle/>
          <a:p>
            <a:pPr algn="ctr" indent="0" marL="0">
              <a:buNone/>
            </a:pPr>
            <a:r>
              <a:rPr lang="en-US" sz="900" spc="300" kern="0" dirty="0">
                <a:solidFill>
                  <a:srgbClr val="C9A84C"/>
                </a:solidFill>
                <a:latin typeface="Calibri" pitchFamily="34" charset="0"/>
                <a:ea typeface="Calibri" pitchFamily="34" charset="-122"/>
                <a:cs typeface="Calibri" pitchFamily="34" charset="-120"/>
              </a:rPr>
              <a:t>SECTION</a:t>
            </a:r>
            <a:endParaRPr lang="en-US" sz="900" dirty="0"/>
          </a:p>
        </p:txBody>
      </p:sp>
      <p:sp>
        <p:nvSpPr>
          <p:cNvPr id="4" name="Shape 2"/>
          <p:cNvSpPr/>
          <p:nvPr/>
        </p:nvSpPr>
        <p:spPr>
          <a:xfrm>
            <a:off x="457200" y="2997200"/>
            <a:ext cx="11277600" cy="50800"/>
          </a:xfrm>
          <a:prstGeom prst="rect">
            <a:avLst/>
          </a:prstGeom>
          <a:solidFill>
            <a:srgbClr val="C9A84C"/>
          </a:solidFill>
          <a:ln w="12700">
            <a:solidFill>
              <a:srgbClr val="C9A84C"/>
            </a:solidFill>
            <a:prstDash val="solid"/>
          </a:ln>
        </p:spPr>
      </p:sp>
      <p:sp>
        <p:nvSpPr>
          <p:cNvPr id="5" name="Text 3"/>
          <p:cNvSpPr/>
          <p:nvPr/>
        </p:nvSpPr>
        <p:spPr>
          <a:xfrm>
            <a:off x="457200" y="3048000"/>
            <a:ext cx="11277600" cy="1016000"/>
          </a:xfrm>
          <a:prstGeom prst="rect">
            <a:avLst/>
          </a:prstGeom>
          <a:noFill/>
          <a:ln/>
        </p:spPr>
        <p:txBody>
          <a:bodyPr wrap="square" rtlCol="0" anchor="ctr">
            <a:normAutofit/>
          </a:bodyPr>
          <a:lstStyle/>
          <a:p>
            <a:pPr algn="ctr" indent="0" marL="0">
              <a:buNone/>
            </a:pPr>
            <a:r>
              <a:rPr lang="en-US" sz="4000" b="1" spc="150" kern="0" dirty="0">
                <a:solidFill>
                  <a:srgbClr val="FFFFFF"/>
                </a:solidFill>
                <a:latin typeface="Georgia" pitchFamily="34" charset="0"/>
                <a:ea typeface="Georgia" pitchFamily="34" charset="-122"/>
                <a:cs typeface="Georgia" pitchFamily="34" charset="-120"/>
              </a:rPr>
              <a:t>FINANCIAL ANALYSIS</a:t>
            </a:r>
            <a:endParaRPr lang="en-US" sz="4000" dirty="0"/>
          </a:p>
        </p:txBody>
      </p:sp>
      <p:sp>
        <p:nvSpPr>
          <p:cNvPr id="6" name="Text 4"/>
          <p:cNvSpPr/>
          <p:nvPr/>
        </p:nvSpPr>
        <p:spPr>
          <a:xfrm>
            <a:off x="457200" y="4165600"/>
            <a:ext cx="11277600" cy="406400"/>
          </a:xfrm>
          <a:prstGeom prst="rect">
            <a:avLst/>
          </a:prstGeom>
          <a:noFill/>
          <a:ln/>
        </p:spPr>
        <p:txBody>
          <a:bodyPr wrap="square" rtlCol="0" anchor="ctr"/>
          <a:lstStyle/>
          <a:p>
            <a:pPr algn="ctr" indent="0" marL="0">
              <a:buNone/>
            </a:pPr>
            <a:r>
              <a:rPr lang="en-US" sz="1800" dirty="0">
                <a:solidFill>
                  <a:srgbClr val="A0B8D0"/>
                </a:solidFill>
                <a:latin typeface="Calibri" pitchFamily="34" charset="0"/>
                <a:ea typeface="Calibri" pitchFamily="34" charset="-122"/>
                <a:cs typeface="Calibri" pitchFamily="34" charset="-120"/>
              </a:rPr>
              <a:t>Income, Expenses &amp; Pro Forma Projections</a:t>
            </a:r>
            <a:endParaRPr lang="en-US" sz="1800" dirty="0"/>
          </a:p>
        </p:txBody>
      </p:sp>
      <p:sp>
        <p:nvSpPr>
          <p:cNvPr id="7" name="Shape 5"/>
          <p:cNvSpPr/>
          <p:nvPr/>
        </p:nvSpPr>
        <p:spPr>
          <a:xfrm>
            <a:off x="0" y="6756400"/>
            <a:ext cx="12188952" cy="101600"/>
          </a:xfrm>
          <a:prstGeom prst="rect">
            <a:avLst/>
          </a:prstGeom>
          <a:solidFill>
            <a:srgbClr val="C9A84C"/>
          </a:solidFill>
          <a:ln w="12700">
            <a:solidFill>
              <a:srgbClr val="C9A84C"/>
            </a:solidFill>
            <a:prstDash val="solid"/>
          </a:ln>
        </p:spPr>
      </p:sp>
      <p:sp>
        <p:nvSpPr>
          <p:cNvPr id="8" name="Text 6"/>
          <p:cNvSpPr/>
          <p:nvPr/>
        </p:nvSpPr>
        <p:spPr>
          <a:xfrm>
            <a:off x="457200" y="6502400"/>
            <a:ext cx="11277600" cy="254000"/>
          </a:xfrm>
          <a:prstGeom prst="rect">
            <a:avLst/>
          </a:prstGeom>
          <a:noFill/>
          <a:ln/>
        </p:spPr>
        <p:txBody>
          <a:bodyPr wrap="square" rtlCol="0" anchor="ctr"/>
          <a:lstStyle/>
          <a:p>
            <a:pPr algn="r" indent="0" marL="0">
              <a:buNone/>
            </a:pPr>
            <a:r>
              <a:rPr lang="en-US" sz="900" dirty="0">
                <a:solidFill>
                  <a:srgbClr val="C9A84C"/>
                </a:solidFill>
                <a:latin typeface="Calibri" pitchFamily="34" charset="0"/>
                <a:ea typeface="Calibri" pitchFamily="34" charset="-122"/>
                <a:cs typeface="Calibri" pitchFamily="34" charset="-120"/>
              </a:rPr>
              <a:t>Gateway Real Estate Advisors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FINANCIAL SUMMARY</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06</a:t>
            </a:r>
            <a:endParaRPr lang="en-US" sz="900" dirty="0"/>
          </a:p>
        </p:txBody>
      </p:sp>
      <p:sp>
        <p:nvSpPr>
          <p:cNvPr id="8" name="Shape 6"/>
          <p:cNvSpPr/>
          <p:nvPr/>
        </p:nvSpPr>
        <p:spPr>
          <a:xfrm>
            <a:off x="457200" y="1168400"/>
            <a:ext cx="2641600" cy="965200"/>
          </a:xfrm>
          <a:prstGeom prst="rect">
            <a:avLst/>
          </a:prstGeom>
          <a:solidFill>
            <a:srgbClr val="EEF2F7"/>
          </a:solidFill>
          <a:ln w="12700">
            <a:solidFill>
              <a:srgbClr val="DDDDDD"/>
            </a:solidFill>
            <a:prstDash val="solid"/>
          </a:ln>
        </p:spPr>
      </p:sp>
      <p:sp>
        <p:nvSpPr>
          <p:cNvPr id="9" name="Shape 7"/>
          <p:cNvSpPr/>
          <p:nvPr/>
        </p:nvSpPr>
        <p:spPr>
          <a:xfrm>
            <a:off x="457200" y="1168400"/>
            <a:ext cx="2641600" cy="36576"/>
          </a:xfrm>
          <a:prstGeom prst="rect">
            <a:avLst/>
          </a:prstGeom>
          <a:solidFill>
            <a:srgbClr val="C9A84C"/>
          </a:solidFill>
          <a:ln w="12700">
            <a:solidFill>
              <a:srgbClr val="C9A84C"/>
            </a:solidFill>
            <a:prstDash val="solid"/>
          </a:ln>
        </p:spPr>
      </p:sp>
      <p:sp>
        <p:nvSpPr>
          <p:cNvPr id="10" name="Text 8"/>
          <p:cNvSpPr/>
          <p:nvPr/>
        </p:nvSpPr>
        <p:spPr>
          <a:xfrm>
            <a:off x="566928" y="1241552"/>
            <a:ext cx="2422144" cy="5588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$520K</a:t>
            </a:r>
            <a:endParaRPr lang="en-US" sz="2000" dirty="0"/>
          </a:p>
        </p:txBody>
      </p:sp>
      <p:sp>
        <p:nvSpPr>
          <p:cNvPr id="11" name="Text 9"/>
          <p:cNvSpPr/>
          <p:nvPr/>
        </p:nvSpPr>
        <p:spPr>
          <a:xfrm>
            <a:off x="566928" y="1778000"/>
            <a:ext cx="24221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NET OPERATING INCOME</a:t>
            </a:r>
            <a:endParaRPr lang="en-US" sz="1100" dirty="0"/>
          </a:p>
        </p:txBody>
      </p:sp>
      <p:sp>
        <p:nvSpPr>
          <p:cNvPr id="12" name="Shape 10"/>
          <p:cNvSpPr/>
          <p:nvPr/>
        </p:nvSpPr>
        <p:spPr>
          <a:xfrm>
            <a:off x="3352800" y="1168400"/>
            <a:ext cx="2641600" cy="965200"/>
          </a:xfrm>
          <a:prstGeom prst="rect">
            <a:avLst/>
          </a:prstGeom>
          <a:solidFill>
            <a:srgbClr val="EEF2F7"/>
          </a:solidFill>
          <a:ln w="12700">
            <a:solidFill>
              <a:srgbClr val="DDDDDD"/>
            </a:solidFill>
            <a:prstDash val="solid"/>
          </a:ln>
        </p:spPr>
      </p:sp>
      <p:sp>
        <p:nvSpPr>
          <p:cNvPr id="13" name="Shape 11"/>
          <p:cNvSpPr/>
          <p:nvPr/>
        </p:nvSpPr>
        <p:spPr>
          <a:xfrm>
            <a:off x="3352800" y="1168400"/>
            <a:ext cx="2641600" cy="36576"/>
          </a:xfrm>
          <a:prstGeom prst="rect">
            <a:avLst/>
          </a:prstGeom>
          <a:solidFill>
            <a:srgbClr val="C9A84C"/>
          </a:solidFill>
          <a:ln w="12700">
            <a:solidFill>
              <a:srgbClr val="C9A84C"/>
            </a:solidFill>
            <a:prstDash val="solid"/>
          </a:ln>
        </p:spPr>
      </p:sp>
      <p:sp>
        <p:nvSpPr>
          <p:cNvPr id="14" name="Text 12"/>
          <p:cNvSpPr/>
          <p:nvPr/>
        </p:nvSpPr>
        <p:spPr>
          <a:xfrm>
            <a:off x="3462528" y="1241552"/>
            <a:ext cx="2422144" cy="5588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5.65%</a:t>
            </a:r>
            <a:endParaRPr lang="en-US" sz="2000" dirty="0"/>
          </a:p>
        </p:txBody>
      </p:sp>
      <p:sp>
        <p:nvSpPr>
          <p:cNvPr id="15" name="Text 13"/>
          <p:cNvSpPr/>
          <p:nvPr/>
        </p:nvSpPr>
        <p:spPr>
          <a:xfrm>
            <a:off x="3462528" y="1778000"/>
            <a:ext cx="24221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CAP RATE</a:t>
            </a:r>
            <a:endParaRPr lang="en-US" sz="1100" dirty="0"/>
          </a:p>
        </p:txBody>
      </p:sp>
      <p:sp>
        <p:nvSpPr>
          <p:cNvPr id="16" name="Shape 14"/>
          <p:cNvSpPr/>
          <p:nvPr/>
        </p:nvSpPr>
        <p:spPr>
          <a:xfrm>
            <a:off x="6197600" y="1168400"/>
            <a:ext cx="2641600" cy="965200"/>
          </a:xfrm>
          <a:prstGeom prst="rect">
            <a:avLst/>
          </a:prstGeom>
          <a:solidFill>
            <a:srgbClr val="EEF2F7"/>
          </a:solidFill>
          <a:ln w="12700">
            <a:solidFill>
              <a:srgbClr val="DDDDDD"/>
            </a:solidFill>
            <a:prstDash val="solid"/>
          </a:ln>
        </p:spPr>
      </p:sp>
      <p:sp>
        <p:nvSpPr>
          <p:cNvPr id="17" name="Shape 15"/>
          <p:cNvSpPr/>
          <p:nvPr/>
        </p:nvSpPr>
        <p:spPr>
          <a:xfrm>
            <a:off x="6197600" y="1168400"/>
            <a:ext cx="2641600" cy="36576"/>
          </a:xfrm>
          <a:prstGeom prst="rect">
            <a:avLst/>
          </a:prstGeom>
          <a:solidFill>
            <a:srgbClr val="C9A84C"/>
          </a:solidFill>
          <a:ln w="12700">
            <a:solidFill>
              <a:srgbClr val="C9A84C"/>
            </a:solidFill>
            <a:prstDash val="solid"/>
          </a:ln>
        </p:spPr>
      </p:sp>
      <p:sp>
        <p:nvSpPr>
          <p:cNvPr id="18" name="Text 16"/>
          <p:cNvSpPr/>
          <p:nvPr/>
        </p:nvSpPr>
        <p:spPr>
          <a:xfrm>
            <a:off x="6307328" y="1241552"/>
            <a:ext cx="2422144" cy="5588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12.4x</a:t>
            </a:r>
            <a:endParaRPr lang="en-US" sz="2000" dirty="0"/>
          </a:p>
        </p:txBody>
      </p:sp>
      <p:sp>
        <p:nvSpPr>
          <p:cNvPr id="19" name="Text 17"/>
          <p:cNvSpPr/>
          <p:nvPr/>
        </p:nvSpPr>
        <p:spPr>
          <a:xfrm>
            <a:off x="6307328" y="1778000"/>
            <a:ext cx="24221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GROSS RENT MULTIPLIER</a:t>
            </a:r>
            <a:endParaRPr lang="en-US" sz="1100" dirty="0"/>
          </a:p>
        </p:txBody>
      </p:sp>
      <p:sp>
        <p:nvSpPr>
          <p:cNvPr id="20" name="Shape 18"/>
          <p:cNvSpPr/>
          <p:nvPr/>
        </p:nvSpPr>
        <p:spPr>
          <a:xfrm>
            <a:off x="9093200" y="1168400"/>
            <a:ext cx="2641600" cy="965200"/>
          </a:xfrm>
          <a:prstGeom prst="rect">
            <a:avLst/>
          </a:prstGeom>
          <a:solidFill>
            <a:srgbClr val="EEF2F7"/>
          </a:solidFill>
          <a:ln w="12700">
            <a:solidFill>
              <a:srgbClr val="DDDDDD"/>
            </a:solidFill>
            <a:prstDash val="solid"/>
          </a:ln>
        </p:spPr>
      </p:sp>
      <p:sp>
        <p:nvSpPr>
          <p:cNvPr id="21" name="Shape 19"/>
          <p:cNvSpPr/>
          <p:nvPr/>
        </p:nvSpPr>
        <p:spPr>
          <a:xfrm>
            <a:off x="9093200" y="1168400"/>
            <a:ext cx="2641600" cy="36576"/>
          </a:xfrm>
          <a:prstGeom prst="rect">
            <a:avLst/>
          </a:prstGeom>
          <a:solidFill>
            <a:srgbClr val="C9A84C"/>
          </a:solidFill>
          <a:ln w="12700">
            <a:solidFill>
              <a:srgbClr val="C9A84C"/>
            </a:solidFill>
            <a:prstDash val="solid"/>
          </a:ln>
        </p:spPr>
      </p:sp>
      <p:sp>
        <p:nvSpPr>
          <p:cNvPr id="22" name="Text 20"/>
          <p:cNvSpPr/>
          <p:nvPr/>
        </p:nvSpPr>
        <p:spPr>
          <a:xfrm>
            <a:off x="9202928" y="1241552"/>
            <a:ext cx="2422144" cy="558800"/>
          </a:xfrm>
          <a:prstGeom prst="rect">
            <a:avLst/>
          </a:prstGeom>
          <a:noFill/>
          <a:ln/>
        </p:spPr>
        <p:txBody>
          <a:bodyPr wrap="square" rtlCol="0" anchor="ctr">
            <a:normAutofit/>
          </a:bodyPr>
          <a:lstStyle/>
          <a:p>
            <a:pPr algn="ctr" indent="0" marL="0">
              <a:buNone/>
            </a:pPr>
            <a:r>
              <a:rPr lang="en-US" sz="2000" b="1" dirty="0">
                <a:solidFill>
                  <a:srgbClr val="1B3A5C"/>
                </a:solidFill>
                <a:latin typeface="Georgia" pitchFamily="34" charset="0"/>
                <a:ea typeface="Georgia" pitchFamily="34" charset="-122"/>
                <a:cs typeface="Georgia" pitchFamily="34" charset="-120"/>
              </a:rPr>
              <a:t>$215/SF</a:t>
            </a:r>
            <a:endParaRPr lang="en-US" sz="2000" dirty="0"/>
          </a:p>
        </p:txBody>
      </p:sp>
      <p:sp>
        <p:nvSpPr>
          <p:cNvPr id="23" name="Text 21"/>
          <p:cNvSpPr/>
          <p:nvPr/>
        </p:nvSpPr>
        <p:spPr>
          <a:xfrm>
            <a:off x="9202928" y="1778000"/>
            <a:ext cx="2422144" cy="2540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PRICE PER SF</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387600"/>
          <a:ext cx="5537200" cy="914400"/>
        </p:xfrm>
        <a:graphic>
          <a:graphicData uri="http://schemas.openxmlformats.org/drawingml/2006/table">
            <a:tbl>
              <a:tblPr/>
              <a:tblGrid>
                <a:gridCol w="2743200"/>
                <a:gridCol w="1371600"/>
                <a:gridCol w="1371600"/>
              </a:tblGrid>
              <a:tr h="355600">
                <a:tc>
                  <a:txBody>
                    <a:bodyPr/>
                    <a:lstStyle/>
                    <a:p>
                      <a:pPr algn="l" indent="0" marL="0">
                        <a:buNone/>
                      </a:pPr>
                      <a:r>
                        <a:rPr lang="en-US" sz="1000" b="1" dirty="0">
                          <a:solidFill>
                            <a:srgbClr val="C9A84C"/>
                          </a:solidFill>
                          <a:latin typeface="Calibri" pitchFamily="34" charset="0"/>
                          <a:ea typeface="Calibri" pitchFamily="34" charset="-122"/>
                          <a:cs typeface="Calibri" pitchFamily="34" charset="-120"/>
                        </a:rPr>
                        <a:t>INCOME SCHEDULE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000" b="1" dirty="0">
                          <a:solidFill>
                            <a:srgbClr val="C9A84C"/>
                          </a:solidFill>
                          <a:latin typeface="Calibri" pitchFamily="34" charset="0"/>
                          <a:ea typeface="Calibri" pitchFamily="34" charset="-122"/>
                          <a:cs typeface="Calibri" pitchFamily="34" charset="-120"/>
                        </a:rPr>
                        <a:t>CURRENT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000" b="1" dirty="0">
                          <a:solidFill>
                            <a:srgbClr val="C9A84C"/>
                          </a:solidFill>
                          <a:latin typeface="Calibri" pitchFamily="34" charset="0"/>
                          <a:ea typeface="Calibri" pitchFamily="34" charset="-122"/>
                          <a:cs typeface="Calibri" pitchFamily="34" charset="-120"/>
                        </a:rPr>
                        <a:t>PRO FORMA</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Gross Rental Income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$741,600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$852,000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Other Income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$18,400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$22,000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Vacancy Loss (3.8%)</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A0190F"/>
                          </a:solidFill>
                          <a:latin typeface="Calibri" pitchFamily="34" charset="0"/>
                          <a:ea typeface="Calibri" pitchFamily="34" charset="-122"/>
                          <a:cs typeface="Calibri" pitchFamily="34" charset="-120"/>
                        </a:rPr>
                        <a:t>($28,180)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A0190F"/>
                          </a:solidFill>
                          <a:latin typeface="Calibri" pitchFamily="34" charset="0"/>
                          <a:ea typeface="Calibri" pitchFamily="34" charset="-122"/>
                          <a:cs typeface="Calibri" pitchFamily="34" charset="-120"/>
                        </a:rPr>
                        <a:t>($17,400)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Effective Gross Income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$731,820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$856,600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55600">
                <a:tc>
                  <a:txBody>
                    <a:bodyPr/>
                    <a:lstStyle/>
                    <a:p>
                      <a:pPr algn="l" indent="0" marL="0">
                        <a:buNone/>
                      </a:pPr>
                      <a:r>
                        <a:rPr lang="en-US" sz="1000" b="1" dirty="0">
                          <a:solidFill>
                            <a:srgbClr val="1B3A5C"/>
                          </a:solidFill>
                          <a:latin typeface="Calibri" pitchFamily="34" charset="0"/>
                          <a:ea typeface="Calibri" pitchFamily="34" charset="-122"/>
                          <a:cs typeface="Calibri" pitchFamily="34" charset="-120"/>
                        </a:rPr>
                        <a:t>TOTAL INCOME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c>
                  <a:txBody>
                    <a:bodyPr/>
                    <a:lstStyle/>
                    <a:p>
                      <a:pPr algn="r" indent="0" marL="0">
                        <a:buNone/>
                      </a:pPr>
                      <a:r>
                        <a:rPr lang="en-US" sz="1000" b="1" dirty="0">
                          <a:solidFill>
                            <a:srgbClr val="1B3A5C"/>
                          </a:solidFill>
                          <a:latin typeface="Calibri" pitchFamily="34" charset="0"/>
                          <a:ea typeface="Calibri" pitchFamily="34" charset="-122"/>
                          <a:cs typeface="Calibri" pitchFamily="34" charset="-120"/>
                        </a:rPr>
                        <a:t>$713,419</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c>
                  <a:txBody>
                    <a:bodyPr/>
                    <a:lstStyle/>
                    <a:p>
                      <a:pPr algn="r" indent="0" marL="0">
                        <a:buNone/>
                      </a:pPr>
                      <a:r>
                        <a:rPr lang="en-US" sz="1000" b="1" dirty="0">
                          <a:solidFill>
                            <a:srgbClr val="1B3A5C"/>
                          </a:solidFill>
                          <a:latin typeface="Calibri" pitchFamily="34" charset="0"/>
                          <a:ea typeface="Calibri" pitchFamily="34" charset="-122"/>
                          <a:cs typeface="Calibri" pitchFamily="34" charset="-120"/>
                        </a:rPr>
                        <a:t>$827,304</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197600" y="2387600"/>
          <a:ext cx="5537200" cy="914400"/>
        </p:xfrm>
        <a:graphic>
          <a:graphicData uri="http://schemas.openxmlformats.org/drawingml/2006/table">
            <a:tbl>
              <a:tblPr/>
              <a:tblGrid>
                <a:gridCol w="2743200"/>
                <a:gridCol w="1371600"/>
                <a:gridCol w="1371600"/>
              </a:tblGrid>
              <a:tr h="355600">
                <a:tc>
                  <a:txBody>
                    <a:bodyPr/>
                    <a:lstStyle/>
                    <a:p>
                      <a:pPr algn="l" indent="0" marL="0">
                        <a:buNone/>
                      </a:pPr>
                      <a:r>
                        <a:rPr lang="en-US" sz="1000" b="1" dirty="0">
                          <a:solidFill>
                            <a:srgbClr val="C9A84C"/>
                          </a:solidFill>
                          <a:latin typeface="Calibri" pitchFamily="34" charset="0"/>
                          <a:ea typeface="Calibri" pitchFamily="34" charset="-122"/>
                          <a:cs typeface="Calibri" pitchFamily="34" charset="-120"/>
                        </a:rPr>
                        <a:t>EXPENSE SCHEDULE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000" b="1" dirty="0">
                          <a:solidFill>
                            <a:srgbClr val="C9A84C"/>
                          </a:solidFill>
                          <a:latin typeface="Calibri" pitchFamily="34" charset="0"/>
                          <a:ea typeface="Calibri" pitchFamily="34" charset="-122"/>
                          <a:cs typeface="Calibri" pitchFamily="34" charset="-120"/>
                        </a:rPr>
                        <a:t>CURRENT</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000" b="1" dirty="0">
                          <a:solidFill>
                            <a:srgbClr val="C9A84C"/>
                          </a:solidFill>
                          <a:latin typeface="Calibri" pitchFamily="34" charset="0"/>
                          <a:ea typeface="Calibri" pitchFamily="34" charset="-122"/>
                          <a:cs typeface="Calibri" pitchFamily="34" charset="-120"/>
                        </a:rPr>
                        <a:t>PRO FORMA</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Property Taxes</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$64,200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$68,000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Insurance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$28,400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$29,500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Repairs &amp; Maintenance</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$42,600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$36,000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Utilities (Common)</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$31,200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$29,800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Management Fee (4.5%)</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$32,930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$38,550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Payroll &amp; Admin</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$22,470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$24,000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04800">
                <a:tc>
                  <a:txBody>
                    <a:bodyPr/>
                    <a:lstStyle/>
                    <a:p>
                      <a:pPr algn="l" indent="0" marL="0">
                        <a:buNone/>
                      </a:pPr>
                      <a:r>
                        <a:rPr lang="en-US" sz="1000" dirty="0">
                          <a:solidFill>
                            <a:srgbClr val="333333"/>
                          </a:solidFill>
                          <a:latin typeface="Calibri" pitchFamily="34" charset="0"/>
                          <a:ea typeface="Calibri" pitchFamily="34" charset="-122"/>
                          <a:cs typeface="Calibri" pitchFamily="34" charset="-120"/>
                        </a:rPr>
                        <a:t>Total Expenses</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$221,800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000" dirty="0">
                          <a:solidFill>
                            <a:srgbClr val="333333"/>
                          </a:solidFill>
                          <a:latin typeface="Calibri" pitchFamily="34" charset="0"/>
                          <a:ea typeface="Calibri" pitchFamily="34" charset="-122"/>
                          <a:cs typeface="Calibri" pitchFamily="34" charset="-120"/>
                        </a:rPr>
                        <a:t>$225,850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55600">
                <a:tc>
                  <a:txBody>
                    <a:bodyPr/>
                    <a:lstStyle/>
                    <a:p>
                      <a:pPr algn="l" indent="0" marL="0">
                        <a:buNone/>
                      </a:pPr>
                      <a:r>
                        <a:rPr lang="en-US" sz="1000" b="1" dirty="0">
                          <a:solidFill>
                            <a:srgbClr val="1B3A5C"/>
                          </a:solidFill>
                          <a:latin typeface="Calibri" pitchFamily="34" charset="0"/>
                          <a:ea typeface="Calibri" pitchFamily="34" charset="-122"/>
                          <a:cs typeface="Calibri" pitchFamily="34" charset="-120"/>
                        </a:rPr>
                        <a:t>TOTAL EXPENSES</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c>
                  <a:txBody>
                    <a:bodyPr/>
                    <a:lstStyle/>
                    <a:p>
                      <a:pPr algn="r" indent="0" marL="0">
                        <a:buNone/>
                      </a:pPr>
                      <a:r>
                        <a:rPr lang="en-US" sz="1000" b="1" dirty="0">
                          <a:solidFill>
                            <a:srgbClr val="1B3A5C"/>
                          </a:solidFill>
                          <a:latin typeface="Calibri" pitchFamily="34" charset="0"/>
                          <a:ea typeface="Calibri" pitchFamily="34" charset="-122"/>
                          <a:cs typeface="Calibri" pitchFamily="34" charset="-120"/>
                        </a:rPr>
                        <a:t>$221,800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c>
                  <a:txBody>
                    <a:bodyPr/>
                    <a:lstStyle/>
                    <a:p>
                      <a:pPr algn="r" indent="0" marL="0">
                        <a:buNone/>
                      </a:pPr>
                      <a:r>
                        <a:rPr lang="en-US" sz="1000" b="1" dirty="0">
                          <a:solidFill>
                            <a:srgbClr val="1B3A5C"/>
                          </a:solidFill>
                          <a:latin typeface="Calibri" pitchFamily="34" charset="0"/>
                          <a:ea typeface="Calibri" pitchFamily="34" charset="-122"/>
                          <a:cs typeface="Calibri" pitchFamily="34" charset="-120"/>
                        </a:rPr>
                        <a:t>$225,850</a:t>
                      </a:r>
                      <a:endParaRPr lang="en-US" sz="10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9A84C"/>
                    </a:solidFill>
                  </a:tcPr>
                </a:tc>
              </a:tr>
            </a:tbl>
          </a:graphicData>
        </a:graphic>
      </p:graphicFrame>
      <p:sp>
        <p:nvSpPr>
          <p:cNvPr id="26" name="Shape 22"/>
          <p:cNvSpPr/>
          <p:nvPr/>
        </p:nvSpPr>
        <p:spPr>
          <a:xfrm>
            <a:off x="457200" y="5384800"/>
            <a:ext cx="11277600" cy="660400"/>
          </a:xfrm>
          <a:prstGeom prst="rect">
            <a:avLst/>
          </a:prstGeom>
          <a:solidFill>
            <a:srgbClr val="1B3A5C"/>
          </a:solidFill>
          <a:ln/>
        </p:spPr>
      </p:sp>
      <p:sp>
        <p:nvSpPr>
          <p:cNvPr id="27" name="Text 23"/>
          <p:cNvSpPr/>
          <p:nvPr/>
        </p:nvSpPr>
        <p:spPr>
          <a:xfrm>
            <a:off x="660400" y="5384800"/>
            <a:ext cx="4521200" cy="660400"/>
          </a:xfrm>
          <a:prstGeom prst="rect">
            <a:avLst/>
          </a:prstGeom>
          <a:noFill/>
          <a:ln/>
        </p:spPr>
        <p:txBody>
          <a:bodyPr wrap="square" rtlCol="0" anchor="ctr"/>
          <a:lstStyle/>
          <a:p>
            <a:pPr indent="0" marL="0">
              <a:buNone/>
            </a:pPr>
            <a:r>
              <a:rPr lang="en-US" sz="1600" b="1" dirty="0">
                <a:solidFill>
                  <a:srgbClr val="C9A84C"/>
                </a:solidFill>
                <a:latin typeface="Calibri" pitchFamily="34" charset="0"/>
                <a:ea typeface="Calibri" pitchFamily="34" charset="-122"/>
                <a:cs typeface="Calibri" pitchFamily="34" charset="-120"/>
              </a:rPr>
              <a:t>NET OPERATING INCOME</a:t>
            </a:r>
            <a:endParaRPr lang="en-US" sz="1600" dirty="0"/>
          </a:p>
        </p:txBody>
      </p:sp>
      <p:sp>
        <p:nvSpPr>
          <p:cNvPr id="28" name="Text 24"/>
          <p:cNvSpPr/>
          <p:nvPr/>
        </p:nvSpPr>
        <p:spPr>
          <a:xfrm>
            <a:off x="6096000" y="5435600"/>
            <a:ext cx="2743200" cy="203200"/>
          </a:xfrm>
          <a:prstGeom prst="rect">
            <a:avLst/>
          </a:prstGeom>
          <a:noFill/>
          <a:ln/>
        </p:spPr>
        <p:txBody>
          <a:bodyPr wrap="square" rtlCol="0" anchor="ctr"/>
          <a:lstStyle/>
          <a:p>
            <a:pPr algn="ctr" indent="0" marL="0">
              <a:buNone/>
            </a:pPr>
            <a:r>
              <a:rPr lang="en-US" sz="800" spc="50" kern="0" dirty="0">
                <a:solidFill>
                  <a:srgbClr val="8899AA"/>
                </a:solidFill>
                <a:latin typeface="Calibri" pitchFamily="34" charset="0"/>
                <a:ea typeface="Calibri" pitchFamily="34" charset="-122"/>
                <a:cs typeface="Calibri" pitchFamily="34" charset="-120"/>
              </a:rPr>
              <a:t>CURRENT</a:t>
            </a:r>
            <a:endParaRPr lang="en-US" sz="800" dirty="0"/>
          </a:p>
        </p:txBody>
      </p:sp>
      <p:sp>
        <p:nvSpPr>
          <p:cNvPr id="29" name="Text 25"/>
          <p:cNvSpPr/>
          <p:nvPr/>
        </p:nvSpPr>
        <p:spPr>
          <a:xfrm>
            <a:off x="8839200" y="5435600"/>
            <a:ext cx="2743200" cy="203200"/>
          </a:xfrm>
          <a:prstGeom prst="rect">
            <a:avLst/>
          </a:prstGeom>
          <a:noFill/>
          <a:ln/>
        </p:spPr>
        <p:txBody>
          <a:bodyPr wrap="square" rtlCol="0" anchor="ctr"/>
          <a:lstStyle/>
          <a:p>
            <a:pPr algn="ctr" indent="0" marL="0">
              <a:buNone/>
            </a:pPr>
            <a:r>
              <a:rPr lang="en-US" sz="800" spc="50" kern="0" dirty="0">
                <a:solidFill>
                  <a:srgbClr val="8899AA"/>
                </a:solidFill>
                <a:latin typeface="Calibri" pitchFamily="34" charset="0"/>
                <a:ea typeface="Calibri" pitchFamily="34" charset="-122"/>
                <a:cs typeface="Calibri" pitchFamily="34" charset="-120"/>
              </a:rPr>
              <a:t>PRO FORMA</a:t>
            </a:r>
            <a:endParaRPr lang="en-US" sz="800" dirty="0"/>
          </a:p>
        </p:txBody>
      </p:sp>
      <p:sp>
        <p:nvSpPr>
          <p:cNvPr id="30" name="Text 26"/>
          <p:cNvSpPr/>
          <p:nvPr/>
        </p:nvSpPr>
        <p:spPr>
          <a:xfrm>
            <a:off x="6096000" y="5588000"/>
            <a:ext cx="2743200" cy="355600"/>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$519,800</a:t>
            </a:r>
            <a:endParaRPr lang="en-US" sz="1800" dirty="0"/>
          </a:p>
        </p:txBody>
      </p:sp>
      <p:sp>
        <p:nvSpPr>
          <p:cNvPr id="31" name="Text 27"/>
          <p:cNvSpPr/>
          <p:nvPr/>
        </p:nvSpPr>
        <p:spPr>
          <a:xfrm>
            <a:off x="8839200" y="5588000"/>
            <a:ext cx="2743200" cy="355600"/>
          </a:xfrm>
          <a:prstGeom prst="rect">
            <a:avLst/>
          </a:prstGeom>
          <a:noFill/>
          <a:ln/>
        </p:spPr>
        <p:txBody>
          <a:bodyPr wrap="square" rtlCol="0" anchor="ctr">
            <a:normAutofit/>
          </a:bodyPr>
          <a:lstStyle/>
          <a:p>
            <a:pPr algn="ctr" indent="0" marL="0">
              <a:buNone/>
            </a:pPr>
            <a:r>
              <a:rPr lang="en-US" sz="1800" b="1" dirty="0">
                <a:solidFill>
                  <a:srgbClr val="C9A84C"/>
                </a:solidFill>
                <a:latin typeface="Georgia" pitchFamily="34" charset="0"/>
                <a:ea typeface="Georgia" pitchFamily="34" charset="-122"/>
                <a:cs typeface="Georgia" pitchFamily="34" charset="-120"/>
              </a:rPr>
              <a:t>$630,750</a:t>
            </a:r>
            <a:endParaRPr lang="en-US" sz="1800" dirty="0"/>
          </a:p>
        </p:txBody>
      </p:sp>
      <p:sp>
        <p:nvSpPr>
          <p:cNvPr id="32" name="Shape 28"/>
          <p:cNvSpPr/>
          <p:nvPr/>
        </p:nvSpPr>
        <p:spPr>
          <a:xfrm>
            <a:off x="8839200" y="5486400"/>
            <a:ext cx="0" cy="457200"/>
          </a:xfrm>
          <a:prstGeom prst="rect">
            <a:avLst/>
          </a:prstGeom>
          <a:solidFill>
            <a:srgbClr val="2C5080"/>
          </a:solidFill>
          <a:ln w="12700">
            <a:solidFill>
              <a:srgbClr val="2C508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LOCATION OVERVIEW</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07</a:t>
            </a:r>
            <a:endParaRPr lang="en-US" sz="900" dirty="0"/>
          </a:p>
        </p:txBody>
      </p:sp>
      <p:sp>
        <p:nvSpPr>
          <p:cNvPr id="8" name="Shape 6"/>
          <p:cNvSpPr/>
          <p:nvPr/>
        </p:nvSpPr>
        <p:spPr>
          <a:xfrm>
            <a:off x="457200" y="1168400"/>
            <a:ext cx="5080000" cy="5080000"/>
          </a:xfrm>
          <a:prstGeom prst="rect">
            <a:avLst/>
          </a:prstGeom>
          <a:solidFill>
            <a:srgbClr val="D0DAE8"/>
          </a:solidFill>
          <a:ln w="12700">
            <a:solidFill>
              <a:srgbClr val="1B3A5C"/>
            </a:solidFill>
            <a:prstDash val="solid"/>
          </a:ln>
        </p:spPr>
      </p:sp>
      <p:sp>
        <p:nvSpPr>
          <p:cNvPr id="9" name="Text 7"/>
          <p:cNvSpPr/>
          <p:nvPr/>
        </p:nvSpPr>
        <p:spPr>
          <a:xfrm>
            <a:off x="457200" y="1168400"/>
            <a:ext cx="5080000" cy="5080000"/>
          </a:xfrm>
          <a:prstGeom prst="rect">
            <a:avLst/>
          </a:prstGeom>
          <a:noFill/>
          <a:ln/>
        </p:spPr>
        <p:txBody>
          <a:bodyPr wrap="square" rtlCol="0" anchor="ctr"/>
          <a:lstStyle/>
          <a:p>
            <a:pPr algn="ctr" indent="0" marL="0">
              <a:buNone/>
            </a:pPr>
            <a:r>
              <a:rPr lang="en-US" sz="1400" b="1" dirty="0">
                <a:solidFill>
                  <a:srgbClr val="1B3A5C"/>
                </a:solidFill>
                <a:latin typeface="Calibri" pitchFamily="34" charset="0"/>
                <a:ea typeface="Calibri" pitchFamily="34" charset="-122"/>
                <a:cs typeface="Calibri" pitchFamily="34" charset="-120"/>
              </a:rPr>
              <a:t>MAP</a:t>
            </a:r>
            <a:endParaRPr lang="en-US" sz="1400" dirty="0"/>
          </a:p>
        </p:txBody>
      </p:sp>
      <p:sp>
        <p:nvSpPr>
          <p:cNvPr id="10" name="Shape 8"/>
          <p:cNvSpPr/>
          <p:nvPr/>
        </p:nvSpPr>
        <p:spPr>
          <a:xfrm>
            <a:off x="457200" y="5892800"/>
            <a:ext cx="5080000" cy="355600"/>
          </a:xfrm>
          <a:prstGeom prst="rect">
            <a:avLst/>
          </a:prstGeom>
          <a:solidFill>
            <a:srgbClr val="1B3A5C">
              <a:alpha val="80000"/>
            </a:srgbClr>
          </a:solidFill>
          <a:ln/>
        </p:spPr>
      </p:sp>
      <p:sp>
        <p:nvSpPr>
          <p:cNvPr id="11" name="Text 9"/>
          <p:cNvSpPr/>
          <p:nvPr/>
        </p:nvSpPr>
        <p:spPr>
          <a:xfrm>
            <a:off x="457200" y="5892800"/>
            <a:ext cx="2540000" cy="355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Walk Score: 92</a:t>
            </a:r>
            <a:endParaRPr lang="en-US" sz="900" dirty="0"/>
          </a:p>
        </p:txBody>
      </p:sp>
      <p:sp>
        <p:nvSpPr>
          <p:cNvPr id="12" name="Text 10"/>
          <p:cNvSpPr/>
          <p:nvPr/>
        </p:nvSpPr>
        <p:spPr>
          <a:xfrm>
            <a:off x="2997200" y="5892800"/>
            <a:ext cx="2540000" cy="355600"/>
          </a:xfrm>
          <a:prstGeom prst="rect">
            <a:avLst/>
          </a:prstGeom>
          <a:noFill/>
          <a:ln/>
        </p:spPr>
        <p:txBody>
          <a:bodyPr wrap="square" rtlCol="0" anchor="ctr"/>
          <a:lstStyle/>
          <a:p>
            <a:pPr algn="ctr" indent="0" marL="0">
              <a:buNone/>
            </a:pPr>
            <a:r>
              <a:rPr lang="en-US" sz="900" b="1" dirty="0">
                <a:solidFill>
                  <a:srgbClr val="C9A84C"/>
                </a:solidFill>
                <a:latin typeface="Calibri" pitchFamily="34" charset="0"/>
                <a:ea typeface="Calibri" pitchFamily="34" charset="-122"/>
                <a:cs typeface="Calibri" pitchFamily="34" charset="-120"/>
              </a:rPr>
              <a:t>Transit Score: 78</a:t>
            </a:r>
            <a:endParaRPr lang="en-US" sz="900" dirty="0"/>
          </a:p>
        </p:txBody>
      </p:sp>
      <p:sp>
        <p:nvSpPr>
          <p:cNvPr id="13" name="Text 11"/>
          <p:cNvSpPr/>
          <p:nvPr/>
        </p:nvSpPr>
        <p:spPr>
          <a:xfrm>
            <a:off x="5791200" y="1168400"/>
            <a:ext cx="5943600" cy="355600"/>
          </a:xfrm>
          <a:prstGeom prst="rect">
            <a:avLst/>
          </a:prstGeom>
          <a:noFill/>
          <a:ln/>
        </p:spPr>
        <p:txBody>
          <a:bodyPr wrap="square" rtlCol="0" anchor="ctr"/>
          <a:lstStyle/>
          <a:p>
            <a:pPr indent="0" marL="0">
              <a:buNone/>
            </a:pPr>
            <a:r>
              <a:rPr lang="en-US" sz="1800" b="1" spc="50" kern="0" dirty="0">
                <a:solidFill>
                  <a:srgbClr val="C9A84C"/>
                </a:solidFill>
                <a:latin typeface="Calibri" pitchFamily="34" charset="0"/>
                <a:ea typeface="Calibri" pitchFamily="34" charset="-122"/>
                <a:cs typeface="Calibri" pitchFamily="34" charset="-120"/>
              </a:rPr>
              <a:t>FIVE POINTS / WHITTIER</a:t>
            </a:r>
            <a:endParaRPr lang="en-US" sz="1800" dirty="0"/>
          </a:p>
        </p:txBody>
      </p:sp>
      <p:sp>
        <p:nvSpPr>
          <p:cNvPr id="14" name="Text 12"/>
          <p:cNvSpPr/>
          <p:nvPr/>
        </p:nvSpPr>
        <p:spPr>
          <a:xfrm>
            <a:off x="5791200" y="1574800"/>
            <a:ext cx="5943600" cy="254000"/>
          </a:xfrm>
          <a:prstGeom prst="rect">
            <a:avLst/>
          </a:prstGeom>
          <a:noFill/>
          <a:ln/>
        </p:spPr>
        <p:txBody>
          <a:bodyPr wrap="square" rtlCol="0" anchor="ctr"/>
          <a:lstStyle/>
          <a:p>
            <a:pPr indent="0" marL="0">
              <a:buNone/>
            </a:pPr>
            <a:r>
              <a:rPr lang="en-US" sz="1300" dirty="0">
                <a:solidFill>
                  <a:srgbClr val="888888"/>
                </a:solidFill>
                <a:latin typeface="Calibri" pitchFamily="34" charset="0"/>
                <a:ea typeface="Calibri" pitchFamily="34" charset="-122"/>
                <a:cs typeface="Calibri" pitchFamily="34" charset="-120"/>
              </a:rPr>
              <a:t>Denver, CO</a:t>
            </a:r>
            <a:endParaRPr lang="en-US" sz="1300" dirty="0"/>
          </a:p>
        </p:txBody>
      </p:sp>
      <p:sp>
        <p:nvSpPr>
          <p:cNvPr id="15" name="Shape 13"/>
          <p:cNvSpPr/>
          <p:nvPr/>
        </p:nvSpPr>
        <p:spPr>
          <a:xfrm>
            <a:off x="5791200" y="1879600"/>
            <a:ext cx="5943600" cy="36576"/>
          </a:xfrm>
          <a:prstGeom prst="rect">
            <a:avLst/>
          </a:prstGeom>
          <a:solidFill>
            <a:srgbClr val="C9A84C"/>
          </a:solidFill>
          <a:ln w="12700">
            <a:solidFill>
              <a:srgbClr val="C9A84C"/>
            </a:solidFill>
            <a:prstDash val="solid"/>
          </a:ln>
        </p:spPr>
      </p:sp>
      <p:sp>
        <p:nvSpPr>
          <p:cNvPr id="16" name="Shape 14"/>
          <p:cNvSpPr/>
          <p:nvPr/>
        </p:nvSpPr>
        <p:spPr>
          <a:xfrm>
            <a:off x="5791200" y="2184400"/>
            <a:ext cx="2844800" cy="762000"/>
          </a:xfrm>
          <a:prstGeom prst="rect">
            <a:avLst/>
          </a:prstGeom>
          <a:solidFill>
            <a:srgbClr val="EEF2F7"/>
          </a:solidFill>
          <a:ln w="12700">
            <a:solidFill>
              <a:srgbClr val="DDDDDD"/>
            </a:solidFill>
            <a:prstDash val="solid"/>
          </a:ln>
        </p:spPr>
      </p:sp>
      <p:sp>
        <p:nvSpPr>
          <p:cNvPr id="17" name="Shape 15"/>
          <p:cNvSpPr/>
          <p:nvPr/>
        </p:nvSpPr>
        <p:spPr>
          <a:xfrm>
            <a:off x="5791200" y="2184400"/>
            <a:ext cx="2844800" cy="36576"/>
          </a:xfrm>
          <a:prstGeom prst="rect">
            <a:avLst/>
          </a:prstGeom>
          <a:solidFill>
            <a:srgbClr val="C9A84C"/>
          </a:solidFill>
          <a:ln w="12700">
            <a:solidFill>
              <a:srgbClr val="C9A84C"/>
            </a:solidFill>
            <a:prstDash val="solid"/>
          </a:ln>
        </p:spPr>
      </p:sp>
      <p:sp>
        <p:nvSpPr>
          <p:cNvPr id="18" name="Text 16"/>
          <p:cNvSpPr/>
          <p:nvPr/>
        </p:nvSpPr>
        <p:spPr>
          <a:xfrm>
            <a:off x="5900928" y="22575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715,500</a:t>
            </a:r>
            <a:endParaRPr lang="en-US" sz="1800" dirty="0"/>
          </a:p>
        </p:txBody>
      </p:sp>
      <p:sp>
        <p:nvSpPr>
          <p:cNvPr id="19" name="Text 17"/>
          <p:cNvSpPr/>
          <p:nvPr/>
        </p:nvSpPr>
        <p:spPr>
          <a:xfrm>
            <a:off x="5900928" y="26924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POPULATION</a:t>
            </a:r>
            <a:endParaRPr lang="en-US" sz="1100" dirty="0"/>
          </a:p>
        </p:txBody>
      </p:sp>
      <p:sp>
        <p:nvSpPr>
          <p:cNvPr id="20" name="Shape 18"/>
          <p:cNvSpPr/>
          <p:nvPr/>
        </p:nvSpPr>
        <p:spPr>
          <a:xfrm>
            <a:off x="8839200" y="2184400"/>
            <a:ext cx="2844800" cy="762000"/>
          </a:xfrm>
          <a:prstGeom prst="rect">
            <a:avLst/>
          </a:prstGeom>
          <a:solidFill>
            <a:srgbClr val="EEF2F7"/>
          </a:solidFill>
          <a:ln w="12700">
            <a:solidFill>
              <a:srgbClr val="DDDDDD"/>
            </a:solidFill>
            <a:prstDash val="solid"/>
          </a:ln>
        </p:spPr>
      </p:sp>
      <p:sp>
        <p:nvSpPr>
          <p:cNvPr id="21" name="Shape 19"/>
          <p:cNvSpPr/>
          <p:nvPr/>
        </p:nvSpPr>
        <p:spPr>
          <a:xfrm>
            <a:off x="8839200" y="2184400"/>
            <a:ext cx="2844800" cy="36576"/>
          </a:xfrm>
          <a:prstGeom prst="rect">
            <a:avLst/>
          </a:prstGeom>
          <a:solidFill>
            <a:srgbClr val="C9A84C"/>
          </a:solidFill>
          <a:ln w="12700">
            <a:solidFill>
              <a:srgbClr val="C9A84C"/>
            </a:solidFill>
            <a:prstDash val="solid"/>
          </a:ln>
        </p:spPr>
      </p:sp>
      <p:sp>
        <p:nvSpPr>
          <p:cNvPr id="22" name="Text 20"/>
          <p:cNvSpPr/>
          <p:nvPr/>
        </p:nvSpPr>
        <p:spPr>
          <a:xfrm>
            <a:off x="8948928" y="22575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$74,500</a:t>
            </a:r>
            <a:endParaRPr lang="en-US" sz="1800" dirty="0"/>
          </a:p>
        </p:txBody>
      </p:sp>
      <p:sp>
        <p:nvSpPr>
          <p:cNvPr id="23" name="Text 21"/>
          <p:cNvSpPr/>
          <p:nvPr/>
        </p:nvSpPr>
        <p:spPr>
          <a:xfrm>
            <a:off x="8948928" y="26924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MEDIAN HH INCOME</a:t>
            </a:r>
            <a:endParaRPr lang="en-US" sz="1100" dirty="0"/>
          </a:p>
        </p:txBody>
      </p:sp>
      <p:sp>
        <p:nvSpPr>
          <p:cNvPr id="24" name="Shape 22"/>
          <p:cNvSpPr/>
          <p:nvPr/>
        </p:nvSpPr>
        <p:spPr>
          <a:xfrm>
            <a:off x="5791200" y="3048000"/>
            <a:ext cx="2844800" cy="762000"/>
          </a:xfrm>
          <a:prstGeom prst="rect">
            <a:avLst/>
          </a:prstGeom>
          <a:solidFill>
            <a:srgbClr val="EEF2F7"/>
          </a:solidFill>
          <a:ln w="12700">
            <a:solidFill>
              <a:srgbClr val="DDDDDD"/>
            </a:solidFill>
            <a:prstDash val="solid"/>
          </a:ln>
        </p:spPr>
      </p:sp>
      <p:sp>
        <p:nvSpPr>
          <p:cNvPr id="25" name="Shape 23"/>
          <p:cNvSpPr/>
          <p:nvPr/>
        </p:nvSpPr>
        <p:spPr>
          <a:xfrm>
            <a:off x="5791200" y="3048000"/>
            <a:ext cx="2844800" cy="36576"/>
          </a:xfrm>
          <a:prstGeom prst="rect">
            <a:avLst/>
          </a:prstGeom>
          <a:solidFill>
            <a:srgbClr val="C9A84C"/>
          </a:solidFill>
          <a:ln w="12700">
            <a:solidFill>
              <a:srgbClr val="C9A84C"/>
            </a:solidFill>
            <a:prstDash val="solid"/>
          </a:ln>
        </p:spPr>
      </p:sp>
      <p:sp>
        <p:nvSpPr>
          <p:cNvPr id="26" name="Text 24"/>
          <p:cNvSpPr/>
          <p:nvPr/>
        </p:nvSpPr>
        <p:spPr>
          <a:xfrm>
            <a:off x="5900928" y="31211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$1,720/mo</a:t>
            </a:r>
            <a:endParaRPr lang="en-US" sz="1800" dirty="0"/>
          </a:p>
        </p:txBody>
      </p:sp>
      <p:sp>
        <p:nvSpPr>
          <p:cNvPr id="27" name="Text 25"/>
          <p:cNvSpPr/>
          <p:nvPr/>
        </p:nvSpPr>
        <p:spPr>
          <a:xfrm>
            <a:off x="5900928" y="35560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AVG MARKET RENT</a:t>
            </a:r>
            <a:endParaRPr lang="en-US" sz="1100" dirty="0"/>
          </a:p>
        </p:txBody>
      </p:sp>
      <p:sp>
        <p:nvSpPr>
          <p:cNvPr id="28" name="Shape 26"/>
          <p:cNvSpPr/>
          <p:nvPr/>
        </p:nvSpPr>
        <p:spPr>
          <a:xfrm>
            <a:off x="8839200" y="3048000"/>
            <a:ext cx="2844800" cy="762000"/>
          </a:xfrm>
          <a:prstGeom prst="rect">
            <a:avLst/>
          </a:prstGeom>
          <a:solidFill>
            <a:srgbClr val="EEF2F7"/>
          </a:solidFill>
          <a:ln w="12700">
            <a:solidFill>
              <a:srgbClr val="DDDDDD"/>
            </a:solidFill>
            <a:prstDash val="solid"/>
          </a:ln>
        </p:spPr>
      </p:sp>
      <p:sp>
        <p:nvSpPr>
          <p:cNvPr id="29" name="Shape 27"/>
          <p:cNvSpPr/>
          <p:nvPr/>
        </p:nvSpPr>
        <p:spPr>
          <a:xfrm>
            <a:off x="8839200" y="3048000"/>
            <a:ext cx="2844800" cy="36576"/>
          </a:xfrm>
          <a:prstGeom prst="rect">
            <a:avLst/>
          </a:prstGeom>
          <a:solidFill>
            <a:srgbClr val="C9A84C"/>
          </a:solidFill>
          <a:ln w="12700">
            <a:solidFill>
              <a:srgbClr val="C9A84C"/>
            </a:solidFill>
            <a:prstDash val="solid"/>
          </a:ln>
        </p:spPr>
      </p:sp>
      <p:sp>
        <p:nvSpPr>
          <p:cNvPr id="30" name="Text 28"/>
          <p:cNvSpPr/>
          <p:nvPr/>
        </p:nvSpPr>
        <p:spPr>
          <a:xfrm>
            <a:off x="8948928" y="31211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3.20%</a:t>
            </a:r>
            <a:endParaRPr lang="en-US" sz="1800" dirty="0"/>
          </a:p>
        </p:txBody>
      </p:sp>
      <p:sp>
        <p:nvSpPr>
          <p:cNvPr id="31" name="Text 29"/>
          <p:cNvSpPr/>
          <p:nvPr/>
        </p:nvSpPr>
        <p:spPr>
          <a:xfrm>
            <a:off x="8948928" y="35560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UNEMPLOYMENT RATE</a:t>
            </a:r>
            <a:endParaRPr lang="en-US" sz="1100" dirty="0"/>
          </a:p>
        </p:txBody>
      </p:sp>
      <p:sp>
        <p:nvSpPr>
          <p:cNvPr id="32" name="Shape 30"/>
          <p:cNvSpPr/>
          <p:nvPr/>
        </p:nvSpPr>
        <p:spPr>
          <a:xfrm>
            <a:off x="5791200" y="3911600"/>
            <a:ext cx="2844800" cy="762000"/>
          </a:xfrm>
          <a:prstGeom prst="rect">
            <a:avLst/>
          </a:prstGeom>
          <a:solidFill>
            <a:srgbClr val="EEF2F7"/>
          </a:solidFill>
          <a:ln w="12700">
            <a:solidFill>
              <a:srgbClr val="DDDDDD"/>
            </a:solidFill>
            <a:prstDash val="solid"/>
          </a:ln>
        </p:spPr>
      </p:sp>
      <p:sp>
        <p:nvSpPr>
          <p:cNvPr id="33" name="Shape 31"/>
          <p:cNvSpPr/>
          <p:nvPr/>
        </p:nvSpPr>
        <p:spPr>
          <a:xfrm>
            <a:off x="5791200" y="3911600"/>
            <a:ext cx="2844800" cy="36576"/>
          </a:xfrm>
          <a:prstGeom prst="rect">
            <a:avLst/>
          </a:prstGeom>
          <a:solidFill>
            <a:srgbClr val="C9A84C"/>
          </a:solidFill>
          <a:ln w="12700">
            <a:solidFill>
              <a:srgbClr val="C9A84C"/>
            </a:solidFill>
            <a:prstDash val="solid"/>
          </a:ln>
        </p:spPr>
      </p:sp>
      <p:sp>
        <p:nvSpPr>
          <p:cNvPr id="34" name="Text 32"/>
          <p:cNvSpPr/>
          <p:nvPr/>
        </p:nvSpPr>
        <p:spPr>
          <a:xfrm>
            <a:off x="5900928" y="39847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53%</a:t>
            </a:r>
            <a:endParaRPr lang="en-US" sz="1800" dirty="0"/>
          </a:p>
        </p:txBody>
      </p:sp>
      <p:sp>
        <p:nvSpPr>
          <p:cNvPr id="35" name="Text 33"/>
          <p:cNvSpPr/>
          <p:nvPr/>
        </p:nvSpPr>
        <p:spPr>
          <a:xfrm>
            <a:off x="5900928" y="44196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RENTER-OCCUPIED</a:t>
            </a:r>
            <a:endParaRPr lang="en-US" sz="1100" dirty="0"/>
          </a:p>
        </p:txBody>
      </p:sp>
      <p:sp>
        <p:nvSpPr>
          <p:cNvPr id="36" name="Shape 34"/>
          <p:cNvSpPr/>
          <p:nvPr/>
        </p:nvSpPr>
        <p:spPr>
          <a:xfrm>
            <a:off x="8839200" y="3911600"/>
            <a:ext cx="2844800" cy="762000"/>
          </a:xfrm>
          <a:prstGeom prst="rect">
            <a:avLst/>
          </a:prstGeom>
          <a:solidFill>
            <a:srgbClr val="EEF2F7"/>
          </a:solidFill>
          <a:ln w="12700">
            <a:solidFill>
              <a:srgbClr val="DDDDDD"/>
            </a:solidFill>
            <a:prstDash val="solid"/>
          </a:ln>
        </p:spPr>
      </p:sp>
      <p:sp>
        <p:nvSpPr>
          <p:cNvPr id="37" name="Shape 35"/>
          <p:cNvSpPr/>
          <p:nvPr/>
        </p:nvSpPr>
        <p:spPr>
          <a:xfrm>
            <a:off x="8839200" y="3911600"/>
            <a:ext cx="2844800" cy="36576"/>
          </a:xfrm>
          <a:prstGeom prst="rect">
            <a:avLst/>
          </a:prstGeom>
          <a:solidFill>
            <a:srgbClr val="C9A84C"/>
          </a:solidFill>
          <a:ln w="12700">
            <a:solidFill>
              <a:srgbClr val="C9A84C"/>
            </a:solidFill>
            <a:prstDash val="solid"/>
          </a:ln>
        </p:spPr>
      </p:sp>
      <p:sp>
        <p:nvSpPr>
          <p:cNvPr id="38" name="Text 36"/>
          <p:cNvSpPr/>
          <p:nvPr/>
        </p:nvSpPr>
        <p:spPr>
          <a:xfrm>
            <a:off x="8948928" y="3984752"/>
            <a:ext cx="2625344" cy="457200"/>
          </a:xfrm>
          <a:prstGeom prst="rect">
            <a:avLst/>
          </a:prstGeom>
          <a:noFill/>
          <a:ln/>
        </p:spPr>
        <p:txBody>
          <a:bodyPr wrap="square" rtlCol="0" anchor="ctr">
            <a:normAutofit/>
          </a:bodyPr>
          <a:lstStyle/>
          <a:p>
            <a:pPr algn="ctr" indent="0" marL="0">
              <a:buNone/>
            </a:pPr>
            <a:r>
              <a:rPr lang="en-US" sz="1800" b="1" dirty="0">
                <a:solidFill>
                  <a:srgbClr val="1B3A5C"/>
                </a:solidFill>
                <a:latin typeface="Georgia" pitchFamily="34" charset="0"/>
                <a:ea typeface="Georgia" pitchFamily="34" charset="-122"/>
                <a:cs typeface="Georgia" pitchFamily="34" charset="-120"/>
              </a:rPr>
              <a:t>34.6</a:t>
            </a:r>
            <a:endParaRPr lang="en-US" sz="1800" dirty="0"/>
          </a:p>
        </p:txBody>
      </p:sp>
      <p:sp>
        <p:nvSpPr>
          <p:cNvPr id="39" name="Text 37"/>
          <p:cNvSpPr/>
          <p:nvPr/>
        </p:nvSpPr>
        <p:spPr>
          <a:xfrm>
            <a:off x="8948928" y="4419600"/>
            <a:ext cx="2625344" cy="203200"/>
          </a:xfrm>
          <a:prstGeom prst="rect">
            <a:avLst/>
          </a:prstGeom>
          <a:noFill/>
          <a:ln/>
        </p:spPr>
        <p:txBody>
          <a:bodyPr wrap="square" rtlCol="0" anchor="t"/>
          <a:lstStyle/>
          <a:p>
            <a:pPr algn="ctr" indent="0" marL="0">
              <a:buNone/>
            </a:pPr>
            <a:r>
              <a:rPr lang="en-US" sz="1100" spc="50" kern="0" dirty="0">
                <a:solidFill>
                  <a:srgbClr val="888888"/>
                </a:solidFill>
                <a:latin typeface="Calibri" pitchFamily="34" charset="0"/>
                <a:ea typeface="Calibri" pitchFamily="34" charset="-122"/>
                <a:cs typeface="Calibri" pitchFamily="34" charset="-120"/>
              </a:rPr>
              <a:t>MEDIAN AGE</a:t>
            </a:r>
            <a:endParaRPr lang="en-US" sz="1100" dirty="0"/>
          </a:p>
        </p:txBody>
      </p:sp>
      <p:sp>
        <p:nvSpPr>
          <p:cNvPr id="40" name="Text 38"/>
          <p:cNvSpPr/>
          <p:nvPr/>
        </p:nvSpPr>
        <p:spPr>
          <a:xfrm>
            <a:off x="5791200" y="5029200"/>
            <a:ext cx="5943600" cy="1219200"/>
          </a:xfrm>
          <a:prstGeom prst="rect">
            <a:avLst/>
          </a:prstGeom>
          <a:noFill/>
          <a:ln/>
        </p:spPr>
        <p:txBody>
          <a:bodyPr wrap="square" rtlCol="0" anchor="t"/>
          <a:lstStyle/>
          <a:p>
            <a:pPr indent="0" marL="0">
              <a:lnSpc>
                <a:spcPct val="145000"/>
              </a:lnSpc>
              <a:buNone/>
            </a:pPr>
            <a:r>
              <a:rPr lang="en-US" sz="1300" dirty="0">
                <a:solidFill>
                  <a:srgbClr val="333333"/>
                </a:solidFill>
                <a:latin typeface="Calibri" pitchFamily="34" charset="0"/>
                <a:ea typeface="Calibri" pitchFamily="34" charset="-122"/>
                <a:cs typeface="Calibri" pitchFamily="34" charset="-120"/>
              </a:rPr>
              <a:t>The Meridian benefits from exceptional transit access via the RTD light rail (38th &amp; Blake Station, 6-min walk), with direct connections to downtown Denver, Denver International Airport, and the Denver Tech Center.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457200"/>
            <a:ext cx="50800" cy="508000"/>
          </a:xfrm>
          <a:prstGeom prst="rect">
            <a:avLst/>
          </a:prstGeom>
          <a:solidFill>
            <a:srgbClr val="C9A84C"/>
          </a:solidFill>
          <a:ln w="12700">
            <a:solidFill>
              <a:srgbClr val="C9A84C"/>
            </a:solidFill>
            <a:prstDash val="solid"/>
          </a:ln>
        </p:spPr>
      </p:sp>
      <p:sp>
        <p:nvSpPr>
          <p:cNvPr id="3" name="Text 1"/>
          <p:cNvSpPr/>
          <p:nvPr/>
        </p:nvSpPr>
        <p:spPr>
          <a:xfrm>
            <a:off x="660400" y="457200"/>
            <a:ext cx="11074400" cy="508000"/>
          </a:xfrm>
          <a:prstGeom prst="rect">
            <a:avLst/>
          </a:prstGeom>
          <a:noFill/>
          <a:ln/>
        </p:spPr>
        <p:txBody>
          <a:bodyPr wrap="square" rtlCol="0" anchor="ctr"/>
          <a:lstStyle/>
          <a:p>
            <a:pPr indent="0" marL="0">
              <a:buNone/>
            </a:pPr>
            <a:r>
              <a:rPr lang="en-US" sz="2800" b="1" spc="150" kern="0" dirty="0">
                <a:solidFill>
                  <a:srgbClr val="1B3A5C"/>
                </a:solidFill>
                <a:latin typeface="Georgia" pitchFamily="34" charset="0"/>
                <a:ea typeface="Georgia" pitchFamily="34" charset="-122"/>
                <a:cs typeface="Georgia" pitchFamily="34" charset="-120"/>
              </a:rPr>
              <a:t>MARKET OVERVIEW</a:t>
            </a:r>
            <a:endParaRPr lang="en-US" sz="2800" dirty="0"/>
          </a:p>
        </p:txBody>
      </p:sp>
      <p:sp>
        <p:nvSpPr>
          <p:cNvPr id="4" name="Shape 2"/>
          <p:cNvSpPr/>
          <p:nvPr/>
        </p:nvSpPr>
        <p:spPr>
          <a:xfrm>
            <a:off x="457200" y="965200"/>
            <a:ext cx="11277600" cy="0"/>
          </a:xfrm>
          <a:prstGeom prst="rect">
            <a:avLst/>
          </a:prstGeom>
          <a:solidFill>
            <a:srgbClr val="DDDDDD"/>
          </a:solidFill>
          <a:ln w="12700">
            <a:solidFill>
              <a:srgbClr val="DDDDDD"/>
            </a:solidFill>
            <a:prstDash val="solid"/>
          </a:ln>
        </p:spPr>
      </p:sp>
      <p:sp>
        <p:nvSpPr>
          <p:cNvPr id="5" name="Shape 3"/>
          <p:cNvSpPr/>
          <p:nvPr/>
        </p:nvSpPr>
        <p:spPr>
          <a:xfrm>
            <a:off x="457200" y="6400800"/>
            <a:ext cx="11277600" cy="0"/>
          </a:xfrm>
          <a:prstGeom prst="rect">
            <a:avLst/>
          </a:prstGeom>
          <a:solidFill>
            <a:srgbClr val="DDDDDD"/>
          </a:solidFill>
          <a:ln w="12700">
            <a:solidFill>
              <a:srgbClr val="DDDDDD"/>
            </a:solidFill>
            <a:prstDash val="solid"/>
          </a:ln>
        </p:spPr>
      </p:sp>
      <p:sp>
        <p:nvSpPr>
          <p:cNvPr id="6" name="Text 4"/>
          <p:cNvSpPr/>
          <p:nvPr/>
        </p:nvSpPr>
        <p:spPr>
          <a:xfrm>
            <a:off x="1930400" y="6400800"/>
            <a:ext cx="6197600" cy="25400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The Meridian</a:t>
            </a:r>
            <a:endParaRPr lang="en-US" sz="900" dirty="0"/>
          </a:p>
        </p:txBody>
      </p:sp>
      <p:sp>
        <p:nvSpPr>
          <p:cNvPr id="7" name="Text 5"/>
          <p:cNvSpPr/>
          <p:nvPr/>
        </p:nvSpPr>
        <p:spPr>
          <a:xfrm>
            <a:off x="8940800" y="6400800"/>
            <a:ext cx="2844800" cy="254000"/>
          </a:xfrm>
          <a:prstGeom prst="rect">
            <a:avLst/>
          </a:prstGeom>
          <a:noFill/>
          <a:ln/>
        </p:spPr>
        <p:txBody>
          <a:bodyPr wrap="square" rtlCol="0" anchor="ctr"/>
          <a:lstStyle/>
          <a:p>
            <a:pPr algn="r" indent="0" marL="0">
              <a:buNone/>
            </a:pPr>
            <a:r>
              <a:rPr lang="en-US" sz="900" dirty="0">
                <a:solidFill>
                  <a:srgbClr val="C9A84C"/>
                </a:solidFill>
                <a:latin typeface="Georgia" pitchFamily="34" charset="0"/>
                <a:ea typeface="Georgia" pitchFamily="34" charset="-122"/>
                <a:cs typeface="Georgia" pitchFamily="34" charset="-120"/>
              </a:rPr>
              <a:t>08</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68400"/>
          <a:ext cx="11277600" cy="914400"/>
        </p:xfrm>
        <a:graphic>
          <a:graphicData uri="http://schemas.openxmlformats.org/drawingml/2006/table">
            <a:tbl>
              <a:tblPr/>
              <a:tblGrid>
                <a:gridCol w="2743200"/>
                <a:gridCol w="914400"/>
                <a:gridCol w="914400"/>
                <a:gridCol w="1828800"/>
                <a:gridCol w="1828800"/>
                <a:gridCol w="1417320"/>
                <a:gridCol w="1627632"/>
              </a:tblGrid>
              <a:tr h="406400">
                <a:tc>
                  <a:txBody>
                    <a:bodyPr/>
                    <a:lstStyle/>
                    <a:p>
                      <a:pPr algn="l" indent="0" marL="0">
                        <a:buNone/>
                      </a:pPr>
                      <a:r>
                        <a:rPr lang="en-US" sz="1100" b="1" spc="30" kern="0" dirty="0">
                          <a:solidFill>
                            <a:srgbClr val="C9A84C"/>
                          </a:solidFill>
                          <a:latin typeface="Calibri" pitchFamily="34" charset="0"/>
                          <a:ea typeface="Calibri" pitchFamily="34" charset="-122"/>
                          <a:cs typeface="Calibri" pitchFamily="34" charset="-120"/>
                        </a:rPr>
                        <a:t>PROPERTY NAME</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YR BUILT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SALE PRICE</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r" indent="0" marL="0">
                        <a:buNone/>
                      </a:pPr>
                      <a:r>
                        <a:rPr lang="en-US" sz="1100" b="1" spc="30" kern="0" dirty="0">
                          <a:solidFill>
                            <a:srgbClr val="C9A84C"/>
                          </a:solidFill>
                          <a:latin typeface="Calibri" pitchFamily="34" charset="0"/>
                          <a:ea typeface="Calibri" pitchFamily="34" charset="-122"/>
                          <a:cs typeface="Calibri" pitchFamily="34" charset="-120"/>
                        </a:rPr>
                        <a:t>PRICE/UNIT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CAP RATE</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c>
                  <a:txBody>
                    <a:bodyPr/>
                    <a:lstStyle/>
                    <a:p>
                      <a:pPr algn="ctr" indent="0" marL="0">
                        <a:buNone/>
                      </a:pPr>
                      <a:r>
                        <a:rPr lang="en-US" sz="1100" b="1" spc="30" kern="0" dirty="0">
                          <a:solidFill>
                            <a:srgbClr val="C9A84C"/>
                          </a:solidFill>
                          <a:latin typeface="Calibri" pitchFamily="34" charset="0"/>
                          <a:ea typeface="Calibri" pitchFamily="34" charset="-122"/>
                          <a:cs typeface="Calibri" pitchFamily="34" charset="-120"/>
                        </a:rPr>
                        <a:t>VS SUBJECT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5C"/>
                    </a:solidFill>
                  </a:tcPr>
                </a:tc>
              </a:tr>
              <a:tr h="355600">
                <a:tc>
                  <a:txBody>
                    <a:bodyPr/>
                    <a:lstStyle/>
                    <a:p>
                      <a:pPr algn="l" indent="0" marL="0">
                        <a:buNone/>
                      </a:pPr>
                      <a:r>
                        <a:rPr lang="en-US" sz="1100" b="1" dirty="0">
                          <a:solidFill>
                            <a:srgbClr val="1B3A5C"/>
                          </a:solidFill>
                          <a:latin typeface="Calibri" pitchFamily="34" charset="0"/>
                          <a:ea typeface="Calibri" pitchFamily="34" charset="-122"/>
                          <a:cs typeface="Calibri" pitchFamily="34" charset="-120"/>
                        </a:rPr>
                        <a:t>★ The Meridian</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ctr" indent="0" marL="0">
                        <a:buNone/>
                      </a:pPr>
                      <a:r>
                        <a:rPr lang="en-US" sz="1100" b="1" dirty="0">
                          <a:solidFill>
                            <a:srgbClr val="1B3A5C"/>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ctr" indent="0" marL="0">
                        <a:buNone/>
                      </a:pPr>
                      <a:r>
                        <a:rPr lang="en-US" sz="1100" b="1" dirty="0">
                          <a:solidFill>
                            <a:srgbClr val="1B3A5C"/>
                          </a:solidFill>
                          <a:latin typeface="Calibri" pitchFamily="34" charset="0"/>
                          <a:ea typeface="Calibri" pitchFamily="34" charset="-122"/>
                          <a:cs typeface="Calibri" pitchFamily="34" charset="-120"/>
                        </a:rPr>
                        <a:t>1987</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r" indent="0" marL="0">
                        <a:buNone/>
                      </a:pPr>
                      <a:r>
                        <a:rPr lang="en-US" sz="1100" b="1" dirty="0">
                          <a:solidFill>
                            <a:srgbClr val="1B3A5C"/>
                          </a:solidFill>
                          <a:latin typeface="Calibri" pitchFamily="34" charset="0"/>
                          <a:ea typeface="Calibri" pitchFamily="34" charset="-122"/>
                          <a:cs typeface="Calibri" pitchFamily="34" charset="-120"/>
                        </a:rPr>
                        <a:t>$9.20M</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r" indent="0" marL="0">
                        <a:buNone/>
                      </a:pPr>
                      <a:r>
                        <a:rPr lang="en-US" sz="1100" b="1" dirty="0">
                          <a:solidFill>
                            <a:srgbClr val="1B3A5C"/>
                          </a:solidFill>
                          <a:latin typeface="Calibri" pitchFamily="34" charset="0"/>
                          <a:ea typeface="Calibri" pitchFamily="34" charset="-122"/>
                          <a:cs typeface="Calibri" pitchFamily="34" charset="-120"/>
                        </a:rPr>
                        <a:t>$192K</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ctr" indent="0" marL="0">
                        <a:buNone/>
                      </a:pPr>
                      <a:r>
                        <a:rPr lang="en-US" sz="1100" b="1" dirty="0">
                          <a:solidFill>
                            <a:srgbClr val="1B3A5C"/>
                          </a:solidFill>
                          <a:latin typeface="Calibri" pitchFamily="34" charset="0"/>
                          <a:ea typeface="Calibri" pitchFamily="34" charset="-122"/>
                          <a:cs typeface="Calibri" pitchFamily="34" charset="-120"/>
                        </a:rPr>
                        <a:t>5.65%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c>
                  <a:txBody>
                    <a:bodyPr/>
                    <a:lstStyle/>
                    <a:p>
                      <a:pPr algn="ctr" indent="0" marL="0">
                        <a:buNone/>
                      </a:pPr>
                      <a:r>
                        <a:rPr lang="en-US" sz="1100" b="1" dirty="0">
                          <a:solidFill>
                            <a:srgbClr val="C9A84C"/>
                          </a:solidFill>
                          <a:latin typeface="Calibri" pitchFamily="34" charset="0"/>
                          <a:ea typeface="Calibri" pitchFamily="34" charset="-122"/>
                          <a:cs typeface="Calibri" pitchFamily="34" charset="-120"/>
                        </a:rPr>
                        <a:t>SUBJECT</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DF5"/>
                    </a:solidFill>
                  </a:tcPr>
                </a:tc>
              </a:tr>
              <a:tr h="355600">
                <a:tc>
                  <a:txBody>
                    <a:bodyPr/>
                    <a:lstStyle/>
                    <a:p>
                      <a:pPr algn="l" indent="0" marL="0">
                        <a:buNone/>
                      </a:pPr>
                      <a:r>
                        <a:rPr lang="en-US" sz="1100" dirty="0">
                          <a:solidFill>
                            <a:srgbClr val="1B3A5C"/>
                          </a:solidFill>
                          <a:latin typeface="Calibri" pitchFamily="34" charset="0"/>
                          <a:ea typeface="Calibri" pitchFamily="34" charset="-122"/>
                          <a:cs typeface="Calibri" pitchFamily="34" charset="-120"/>
                        </a:rPr>
                        <a:t>The Aria at Five Points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2009</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$10.20M</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$196K</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5.30%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b="1" dirty="0">
                          <a:solidFill>
                            <a:srgbClr val="888888"/>
                          </a:solidFill>
                          <a:latin typeface="Calibri" pitchFamily="34" charset="0"/>
                          <a:ea typeface="Calibri" pitchFamily="34" charset="-122"/>
                          <a:cs typeface="Calibri" pitchFamily="34" charset="-120"/>
                        </a:rPr>
                        <a:t>-0.35%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r h="355600">
                <a:tc>
                  <a:txBody>
                    <a:bodyPr/>
                    <a:lstStyle/>
                    <a:p>
                      <a:pPr algn="l" indent="0" marL="0">
                        <a:buNone/>
                      </a:pPr>
                      <a:r>
                        <a:rPr lang="en-US" sz="1100" dirty="0">
                          <a:solidFill>
                            <a:srgbClr val="1B3A5C"/>
                          </a:solidFill>
                          <a:latin typeface="Calibri" pitchFamily="34" charset="0"/>
                          <a:ea typeface="Calibri" pitchFamily="34" charset="-122"/>
                          <a:cs typeface="Calibri" pitchFamily="34" charset="-120"/>
                        </a:rPr>
                        <a:t>Five Points Flats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1998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$6.80M</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$189K</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5.80%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c>
                  <a:txBody>
                    <a:bodyPr/>
                    <a:lstStyle/>
                    <a:p>
                      <a:pPr algn="ctr" indent="0" marL="0">
                        <a:buNone/>
                      </a:pPr>
                      <a:r>
                        <a:rPr lang="en-US" sz="1100" b="1" dirty="0">
                          <a:solidFill>
                            <a:srgbClr val="2D7A4F"/>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7F5F0"/>
                    </a:solidFill>
                  </a:tcPr>
                </a:tc>
              </a:tr>
              <a:tr h="355600">
                <a:tc>
                  <a:txBody>
                    <a:bodyPr/>
                    <a:lstStyle/>
                    <a:p>
                      <a:pPr algn="l" indent="0" marL="0">
                        <a:buNone/>
                      </a:pPr>
                      <a:r>
                        <a:rPr lang="en-US" sz="1100" dirty="0">
                          <a:solidFill>
                            <a:srgbClr val="1B3A5C"/>
                          </a:solidFill>
                          <a:latin typeface="Calibri" pitchFamily="34" charset="0"/>
                          <a:ea typeface="Calibri" pitchFamily="34" charset="-122"/>
                          <a:cs typeface="Calibri" pitchFamily="34" charset="-120"/>
                        </a:rPr>
                        <a:t>Whittier Commons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2003</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$13.10M</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r" indent="0" marL="0">
                        <a:buNone/>
                      </a:pPr>
                      <a:r>
                        <a:rPr lang="en-US" sz="1100" dirty="0">
                          <a:solidFill>
                            <a:srgbClr val="333333"/>
                          </a:solidFill>
                          <a:latin typeface="Calibri" pitchFamily="34" charset="0"/>
                          <a:ea typeface="Calibri" pitchFamily="34" charset="-122"/>
                          <a:cs typeface="Calibri" pitchFamily="34" charset="-120"/>
                        </a:rPr>
                        <a:t>$205K</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dirty="0">
                          <a:solidFill>
                            <a:srgbClr val="333333"/>
                          </a:solidFill>
                          <a:latin typeface="Calibri" pitchFamily="34" charset="0"/>
                          <a:ea typeface="Calibri" pitchFamily="34" charset="-122"/>
                          <a:cs typeface="Calibri" pitchFamily="34" charset="-120"/>
                        </a:rPr>
                        <a:t>5.10%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c>
                  <a:txBody>
                    <a:bodyPr/>
                    <a:lstStyle/>
                    <a:p>
                      <a:pPr algn="ctr" indent="0" marL="0">
                        <a:buNone/>
                      </a:pPr>
                      <a:r>
                        <a:rPr lang="en-US" sz="1100" b="1" dirty="0">
                          <a:solidFill>
                            <a:srgbClr val="888888"/>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F1F5"/>
                    </a:solidFill>
                  </a:tcPr>
                </a:tc>
              </a:tr>
            </a:tbl>
          </a:graphicData>
        </a:graphic>
      </p:graphicFrame>
      <p:sp>
        <p:nvSpPr>
          <p:cNvPr id="9" name="Shape 6"/>
          <p:cNvSpPr/>
          <p:nvPr/>
        </p:nvSpPr>
        <p:spPr>
          <a:xfrm>
            <a:off x="457200" y="3251200"/>
            <a:ext cx="3606800" cy="2032000"/>
          </a:xfrm>
          <a:prstGeom prst="rect">
            <a:avLst/>
          </a:prstGeom>
          <a:solidFill>
            <a:srgbClr val="243F63"/>
          </a:solidFill>
          <a:ln/>
        </p:spPr>
      </p:sp>
      <p:sp>
        <p:nvSpPr>
          <p:cNvPr id="10" name="Shape 7"/>
          <p:cNvSpPr/>
          <p:nvPr/>
        </p:nvSpPr>
        <p:spPr>
          <a:xfrm>
            <a:off x="457200" y="3251200"/>
            <a:ext cx="3606800" cy="50800"/>
          </a:xfrm>
          <a:prstGeom prst="rect">
            <a:avLst/>
          </a:prstGeom>
          <a:solidFill>
            <a:srgbClr val="C9A84C"/>
          </a:solidFill>
          <a:ln w="12700">
            <a:solidFill>
              <a:srgbClr val="C9A84C"/>
            </a:solidFill>
            <a:prstDash val="solid"/>
          </a:ln>
        </p:spPr>
      </p:sp>
      <p:sp>
        <p:nvSpPr>
          <p:cNvPr id="11" name="Text 8"/>
          <p:cNvSpPr/>
          <p:nvPr/>
        </p:nvSpPr>
        <p:spPr>
          <a:xfrm>
            <a:off x="609600" y="3403600"/>
            <a:ext cx="3302000" cy="254000"/>
          </a:xfrm>
          <a:prstGeom prst="rect">
            <a:avLst/>
          </a:prstGeom>
          <a:noFill/>
          <a:ln/>
        </p:spPr>
        <p:txBody>
          <a:bodyPr wrap="square" rtlCol="0" anchor="ctr"/>
          <a:lstStyle/>
          <a:p>
            <a:pPr indent="0" marL="0">
              <a:buNone/>
            </a:pPr>
            <a:r>
              <a:rPr lang="en-US" sz="1300" b="1" spc="30" kern="0" dirty="0">
                <a:solidFill>
                  <a:srgbClr val="C9A84C"/>
                </a:solidFill>
                <a:latin typeface="Calibri" pitchFamily="34" charset="0"/>
                <a:ea typeface="Calibri" pitchFamily="34" charset="-122"/>
                <a:cs typeface="Calibri" pitchFamily="34" charset="-120"/>
              </a:rPr>
              <a:t>GROWING ECONOMY</a:t>
            </a:r>
            <a:endParaRPr lang="en-US" sz="1300" dirty="0"/>
          </a:p>
        </p:txBody>
      </p:sp>
      <p:sp>
        <p:nvSpPr>
          <p:cNvPr id="12" name="Text 9"/>
          <p:cNvSpPr/>
          <p:nvPr/>
        </p:nvSpPr>
        <p:spPr>
          <a:xfrm>
            <a:off x="609600" y="3708400"/>
            <a:ext cx="3302000" cy="1473200"/>
          </a:xfrm>
          <a:prstGeom prst="rect">
            <a:avLst/>
          </a:prstGeom>
          <a:noFill/>
          <a:ln/>
        </p:spPr>
        <p:txBody>
          <a:bodyPr wrap="square" rtlCol="0" anchor="t"/>
          <a:lstStyle/>
          <a:p>
            <a:pPr indent="0" marL="0">
              <a:lnSpc>
                <a:spcPct val="140000"/>
              </a:lnSpc>
              <a:buNone/>
            </a:pPr>
            <a:r>
              <a:rPr lang="en-US" sz="1100" dirty="0">
                <a:solidFill>
                  <a:srgbClr val="C8D8E8"/>
                </a:solidFill>
                <a:latin typeface="Calibri" pitchFamily="34" charset="0"/>
                <a:ea typeface="Calibri" pitchFamily="34" charset="-122"/>
                <a:cs typeface="Calibri" pitchFamily="34" charset="-120"/>
              </a:rPr>
              <a:t>Denver’s 3.2% unemployment rate and diverse employer base anchor strong renter demand. Major employers within 3 miles include UCHealth, Xcel Energy, and a growing technology sector.</a:t>
            </a:r>
            <a:endParaRPr lang="en-US" sz="1100" dirty="0"/>
          </a:p>
        </p:txBody>
      </p:sp>
      <p:sp>
        <p:nvSpPr>
          <p:cNvPr id="13" name="Shape 10"/>
          <p:cNvSpPr/>
          <p:nvPr/>
        </p:nvSpPr>
        <p:spPr>
          <a:xfrm>
            <a:off x="4318000" y="3251200"/>
            <a:ext cx="3606800" cy="2032000"/>
          </a:xfrm>
          <a:prstGeom prst="rect">
            <a:avLst/>
          </a:prstGeom>
          <a:solidFill>
            <a:srgbClr val="243F63"/>
          </a:solidFill>
          <a:ln/>
        </p:spPr>
      </p:sp>
      <p:sp>
        <p:nvSpPr>
          <p:cNvPr id="14" name="Shape 11"/>
          <p:cNvSpPr/>
          <p:nvPr/>
        </p:nvSpPr>
        <p:spPr>
          <a:xfrm>
            <a:off x="4318000" y="3251200"/>
            <a:ext cx="3606800" cy="50800"/>
          </a:xfrm>
          <a:prstGeom prst="rect">
            <a:avLst/>
          </a:prstGeom>
          <a:solidFill>
            <a:srgbClr val="C9A84C"/>
          </a:solidFill>
          <a:ln w="12700">
            <a:solidFill>
              <a:srgbClr val="C9A84C"/>
            </a:solidFill>
            <a:prstDash val="solid"/>
          </a:ln>
        </p:spPr>
      </p:sp>
      <p:sp>
        <p:nvSpPr>
          <p:cNvPr id="15" name="Text 12"/>
          <p:cNvSpPr/>
          <p:nvPr/>
        </p:nvSpPr>
        <p:spPr>
          <a:xfrm>
            <a:off x="4470400" y="3403600"/>
            <a:ext cx="3302000" cy="254000"/>
          </a:xfrm>
          <a:prstGeom prst="rect">
            <a:avLst/>
          </a:prstGeom>
          <a:noFill/>
          <a:ln/>
        </p:spPr>
        <p:txBody>
          <a:bodyPr wrap="square" rtlCol="0" anchor="ctr"/>
          <a:lstStyle/>
          <a:p>
            <a:pPr indent="0" marL="0">
              <a:buNone/>
            </a:pPr>
            <a:r>
              <a:rPr lang="en-US" sz="1300" b="1" spc="30" kern="0" dirty="0">
                <a:solidFill>
                  <a:srgbClr val="C9A84C"/>
                </a:solidFill>
                <a:latin typeface="Calibri" pitchFamily="34" charset="0"/>
                <a:ea typeface="Calibri" pitchFamily="34" charset="-122"/>
                <a:cs typeface="Calibri" pitchFamily="34" charset="-120"/>
              </a:rPr>
              <a:t>SUPPLY-CONSTRAINED SUBMARKET</a:t>
            </a:r>
            <a:endParaRPr lang="en-US" sz="1300" dirty="0"/>
          </a:p>
        </p:txBody>
      </p:sp>
      <p:sp>
        <p:nvSpPr>
          <p:cNvPr id="16" name="Text 13"/>
          <p:cNvSpPr/>
          <p:nvPr/>
        </p:nvSpPr>
        <p:spPr>
          <a:xfrm>
            <a:off x="4470400" y="3708400"/>
            <a:ext cx="3302000" cy="1473200"/>
          </a:xfrm>
          <a:prstGeom prst="rect">
            <a:avLst/>
          </a:prstGeom>
          <a:noFill/>
          <a:ln/>
        </p:spPr>
        <p:txBody>
          <a:bodyPr wrap="square" rtlCol="0" anchor="t"/>
          <a:lstStyle/>
          <a:p>
            <a:pPr indent="0" marL="0">
              <a:lnSpc>
                <a:spcPct val="140000"/>
              </a:lnSpc>
              <a:buNone/>
            </a:pPr>
            <a:r>
              <a:rPr lang="en-US" sz="1100" dirty="0">
                <a:solidFill>
                  <a:srgbClr val="C8D8E8"/>
                </a:solidFill>
                <a:latin typeface="Calibri" pitchFamily="34" charset="0"/>
                <a:ea typeface="Calibri" pitchFamily="34" charset="-122"/>
                <a:cs typeface="Calibri" pitchFamily="34" charset="-120"/>
              </a:rPr>
              <a:t>Limited developable land and high construction costs constrain new supply. Only 380 units delivered in the submarket over the past 24 months.</a:t>
            </a:r>
            <a:endParaRPr lang="en-US" sz="1100" dirty="0"/>
          </a:p>
        </p:txBody>
      </p:sp>
      <p:sp>
        <p:nvSpPr>
          <p:cNvPr id="17" name="Shape 14"/>
          <p:cNvSpPr/>
          <p:nvPr/>
        </p:nvSpPr>
        <p:spPr>
          <a:xfrm>
            <a:off x="8128000" y="3251200"/>
            <a:ext cx="3606800" cy="2032000"/>
          </a:xfrm>
          <a:prstGeom prst="rect">
            <a:avLst/>
          </a:prstGeom>
          <a:solidFill>
            <a:srgbClr val="243F63"/>
          </a:solidFill>
          <a:ln/>
        </p:spPr>
      </p:sp>
      <p:sp>
        <p:nvSpPr>
          <p:cNvPr id="18" name="Shape 15"/>
          <p:cNvSpPr/>
          <p:nvPr/>
        </p:nvSpPr>
        <p:spPr>
          <a:xfrm>
            <a:off x="8128000" y="3251200"/>
            <a:ext cx="3606800" cy="50800"/>
          </a:xfrm>
          <a:prstGeom prst="rect">
            <a:avLst/>
          </a:prstGeom>
          <a:solidFill>
            <a:srgbClr val="C9A84C"/>
          </a:solidFill>
          <a:ln w="12700">
            <a:solidFill>
              <a:srgbClr val="C9A84C"/>
            </a:solidFill>
            <a:prstDash val="solid"/>
          </a:ln>
        </p:spPr>
      </p:sp>
      <p:sp>
        <p:nvSpPr>
          <p:cNvPr id="19" name="Text 16"/>
          <p:cNvSpPr/>
          <p:nvPr/>
        </p:nvSpPr>
        <p:spPr>
          <a:xfrm>
            <a:off x="8280400" y="3403600"/>
            <a:ext cx="3302000" cy="254000"/>
          </a:xfrm>
          <a:prstGeom prst="rect">
            <a:avLst/>
          </a:prstGeom>
          <a:noFill/>
          <a:ln/>
        </p:spPr>
        <p:txBody>
          <a:bodyPr wrap="square" rtlCol="0" anchor="ctr"/>
          <a:lstStyle/>
          <a:p>
            <a:pPr indent="0" marL="0">
              <a:buNone/>
            </a:pPr>
            <a:r>
              <a:rPr lang="en-US" sz="1300" b="1" spc="30" kern="0" dirty="0">
                <a:solidFill>
                  <a:srgbClr val="C9A84C"/>
                </a:solidFill>
                <a:latin typeface="Calibri" pitchFamily="34" charset="0"/>
                <a:ea typeface="Calibri" pitchFamily="34" charset="-122"/>
                <a:cs typeface="Calibri" pitchFamily="34" charset="-120"/>
              </a:rPr>
              <a:t>STRONG RENT GROWTH</a:t>
            </a:r>
            <a:endParaRPr lang="en-US" sz="1300" dirty="0"/>
          </a:p>
        </p:txBody>
      </p:sp>
      <p:sp>
        <p:nvSpPr>
          <p:cNvPr id="20" name="Text 17"/>
          <p:cNvSpPr/>
          <p:nvPr/>
        </p:nvSpPr>
        <p:spPr>
          <a:xfrm>
            <a:off x="8280400" y="3708400"/>
            <a:ext cx="3302000" cy="1473200"/>
          </a:xfrm>
          <a:prstGeom prst="rect">
            <a:avLst/>
          </a:prstGeom>
          <a:noFill/>
          <a:ln/>
        </p:spPr>
        <p:txBody>
          <a:bodyPr wrap="square" rtlCol="0" anchor="t"/>
          <a:lstStyle/>
          <a:p>
            <a:pPr indent="0" marL="0">
              <a:lnSpc>
                <a:spcPct val="140000"/>
              </a:lnSpc>
              <a:buNone/>
            </a:pPr>
            <a:r>
              <a:rPr lang="en-US" sz="1100" dirty="0">
                <a:solidFill>
                  <a:srgbClr val="C8D8E8"/>
                </a:solidFill>
                <a:latin typeface="Calibri" pitchFamily="34" charset="0"/>
                <a:ea typeface="Calibri" pitchFamily="34" charset="-122"/>
                <a:cs typeface="Calibri" pitchFamily="34" charset="-120"/>
              </a:rPr>
              <a:t>4.2% year-over-year rent growth outpaces the metro average of 3.1%. Value-add repositioned assets are achieving 10–14% rent premiums.</a:t>
            </a:r>
            <a:endParaRPr lang="en-US" sz="1100" dirty="0"/>
          </a:p>
        </p:txBody>
      </p:sp>
      <p:sp>
        <p:nvSpPr>
          <p:cNvPr id="21" name="Text 18"/>
          <p:cNvSpPr/>
          <p:nvPr/>
        </p:nvSpPr>
        <p:spPr>
          <a:xfrm>
            <a:off x="457200" y="5537200"/>
            <a:ext cx="11277600" cy="711200"/>
          </a:xfrm>
          <a:prstGeom prst="rect">
            <a:avLst/>
          </a:prstGeom>
          <a:noFill/>
          <a:ln/>
        </p:spPr>
        <p:txBody>
          <a:bodyPr wrap="square" rtlCol="0" anchor="t"/>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Denver’s Five Points and Whittier neighborhoods have experienced sustained rent growth driven by employment expansion in the tech, healthcare, and professional services sectors. Proximity to Union Station and the 16th Street Mall positions the submarket as one of the metro’s most supply-constrained rental corridors.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12188952" cy="50800"/>
          </a:xfrm>
          <a:prstGeom prst="rect">
            <a:avLst/>
          </a:prstGeom>
          <a:solidFill>
            <a:srgbClr val="C9A84C"/>
          </a:solidFill>
          <a:ln w="12700">
            <a:solidFill>
              <a:srgbClr val="C9A84C"/>
            </a:solidFill>
            <a:prstDash val="solid"/>
          </a:ln>
        </p:spPr>
      </p:sp>
      <p:sp>
        <p:nvSpPr>
          <p:cNvPr id="3" name="Shape 1"/>
          <p:cNvSpPr/>
          <p:nvPr/>
        </p:nvSpPr>
        <p:spPr>
          <a:xfrm>
            <a:off x="0" y="6807200"/>
            <a:ext cx="12188952" cy="50800"/>
          </a:xfrm>
          <a:prstGeom prst="rect">
            <a:avLst/>
          </a:prstGeom>
          <a:solidFill>
            <a:srgbClr val="C9A84C"/>
          </a:solidFill>
          <a:ln w="12700">
            <a:solidFill>
              <a:srgbClr val="C9A84C"/>
            </a:solidFill>
            <a:prstDash val="solid"/>
          </a:ln>
        </p:spPr>
      </p:sp>
      <p:sp>
        <p:nvSpPr>
          <p:cNvPr id="4" name="Shape 2"/>
          <p:cNvSpPr/>
          <p:nvPr/>
        </p:nvSpPr>
        <p:spPr>
          <a:xfrm>
            <a:off x="0" y="0"/>
            <a:ext cx="5029200" cy="6858000"/>
          </a:xfrm>
          <a:prstGeom prst="rect">
            <a:avLst/>
          </a:prstGeom>
          <a:solidFill>
            <a:srgbClr val="162D47"/>
          </a:solidFill>
          <a:ln/>
        </p:spPr>
      </p:sp>
      <p:sp>
        <p:nvSpPr>
          <p:cNvPr id="5" name="Text 3"/>
          <p:cNvSpPr/>
          <p:nvPr/>
        </p:nvSpPr>
        <p:spPr>
          <a:xfrm>
            <a:off x="355600" y="558800"/>
            <a:ext cx="3200400" cy="711200"/>
          </a:xfrm>
          <a:prstGeom prst="rect">
            <a:avLst/>
          </a:prstGeom>
          <a:noFill/>
          <a:ln/>
        </p:spPr>
        <p:txBody>
          <a:bodyPr wrap="square" rtlCol="0" anchor="ctr"/>
          <a:lstStyle/>
          <a:p>
            <a:pPr indent="0" marL="0">
              <a:buNone/>
            </a:pPr>
            <a:r>
              <a:rPr lang="en-US" sz="1600" b="1" dirty="0">
                <a:solidFill>
                  <a:srgbClr val="C9A84C"/>
                </a:solidFill>
                <a:latin typeface="Georgia" pitchFamily="34" charset="0"/>
                <a:ea typeface="Georgia" pitchFamily="34" charset="-122"/>
                <a:cs typeface="Georgia" pitchFamily="34" charset="-120"/>
              </a:rPr>
              <a:t>GATEWAY REAL ESTATE ADVISORS</a:t>
            </a:r>
            <a:endParaRPr lang="en-US" sz="1600" dirty="0"/>
          </a:p>
        </p:txBody>
      </p:sp>
      <p:sp>
        <p:nvSpPr>
          <p:cNvPr id="6" name="Text 4"/>
          <p:cNvSpPr/>
          <p:nvPr/>
        </p:nvSpPr>
        <p:spPr>
          <a:xfrm>
            <a:off x="355600" y="1574800"/>
            <a:ext cx="4216400" cy="254000"/>
          </a:xfrm>
          <a:prstGeom prst="rect">
            <a:avLst/>
          </a:prstGeom>
          <a:noFill/>
          <a:ln/>
        </p:spPr>
        <p:txBody>
          <a:bodyPr wrap="square" rtlCol="0" anchor="ctr"/>
          <a:lstStyle/>
          <a:p>
            <a:pPr indent="0" marL="0">
              <a:buNone/>
            </a:pPr>
            <a:r>
              <a:rPr lang="en-US" sz="900" spc="200" kern="0" dirty="0">
                <a:solidFill>
                  <a:srgbClr val="C9A84C"/>
                </a:solidFill>
                <a:latin typeface="Calibri" pitchFamily="34" charset="0"/>
                <a:ea typeface="Calibri" pitchFamily="34" charset="-122"/>
                <a:cs typeface="Calibri" pitchFamily="34" charset="-120"/>
              </a:rPr>
              <a:t>EXCLUSIVELY OFFERED BY</a:t>
            </a:r>
            <a:endParaRPr lang="en-US" sz="900" dirty="0"/>
          </a:p>
        </p:txBody>
      </p:sp>
      <p:sp>
        <p:nvSpPr>
          <p:cNvPr id="7" name="Shape 5"/>
          <p:cNvSpPr/>
          <p:nvPr/>
        </p:nvSpPr>
        <p:spPr>
          <a:xfrm>
            <a:off x="355600" y="1473200"/>
            <a:ext cx="4216400" cy="50800"/>
          </a:xfrm>
          <a:prstGeom prst="rect">
            <a:avLst/>
          </a:prstGeom>
          <a:solidFill>
            <a:srgbClr val="C9A84C"/>
          </a:solidFill>
          <a:ln w="12700">
            <a:solidFill>
              <a:srgbClr val="C9A84C"/>
            </a:solidFill>
            <a:prstDash val="solid"/>
          </a:ln>
        </p:spPr>
      </p:sp>
      <p:sp>
        <p:nvSpPr>
          <p:cNvPr id="8" name="Text 6"/>
          <p:cNvSpPr/>
          <p:nvPr/>
        </p:nvSpPr>
        <p:spPr>
          <a:xfrm>
            <a:off x="355600" y="1625600"/>
            <a:ext cx="4216400" cy="4572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Gateway Real Estate Advisors</a:t>
            </a:r>
            <a:endParaRPr lang="en-US" sz="1800" dirty="0"/>
          </a:p>
        </p:txBody>
      </p:sp>
      <p:sp>
        <p:nvSpPr>
          <p:cNvPr id="9" name="Text 7"/>
          <p:cNvSpPr/>
          <p:nvPr/>
        </p:nvSpPr>
        <p:spPr>
          <a:xfrm>
            <a:off x="355600" y="5486400"/>
            <a:ext cx="4216400" cy="1066800"/>
          </a:xfrm>
          <a:prstGeom prst="rect">
            <a:avLst/>
          </a:prstGeom>
          <a:noFill/>
          <a:ln/>
        </p:spPr>
        <p:txBody>
          <a:bodyPr wrap="square" rtlCol="0" anchor="t"/>
          <a:lstStyle/>
          <a:p>
            <a:pPr indent="0" marL="0">
              <a:lnSpc>
                <a:spcPct val="140000"/>
              </a:lnSpc>
              <a:buNone/>
            </a:pPr>
            <a:r>
              <a:rPr lang="en-US" sz="900" dirty="0">
                <a:solidFill>
                  <a:srgbClr val="7A93AA"/>
                </a:solidFill>
                <a:latin typeface="Calibri" pitchFamily="34" charset="0"/>
                <a:ea typeface="Calibri" pitchFamily="34" charset="-122"/>
                <a:cs typeface="Calibri" pitchFamily="34" charset="-120"/>
              </a:rPr>
              <a:t>This Offering Memorandum has been prepared by Gateway Real Estate Advisors for use by a limited number of parties and does not purport to provide a necessarily accurate summary of the property or any of the documents related thereto, nor does it purport to be all-inclusive or to contain all of the information which prospective investors may need or desire. All projections have been developed by the owner and designated agents and are based upon assumptions relating to the general economy, competition, and other factors beyond the control of the owner, and therefore are subject to material variation. Additional information and an opportunity to inspect the property will be made available to interested and qualified prospective purchasers.</a:t>
            </a:r>
            <a:endParaRPr lang="en-US" sz="900" dirty="0"/>
          </a:p>
        </p:txBody>
      </p:sp>
      <p:sp>
        <p:nvSpPr>
          <p:cNvPr id="10" name="Text 8"/>
          <p:cNvSpPr/>
          <p:nvPr/>
        </p:nvSpPr>
        <p:spPr>
          <a:xfrm>
            <a:off x="5283200" y="660400"/>
            <a:ext cx="6756400" cy="304800"/>
          </a:xfrm>
          <a:prstGeom prst="rect">
            <a:avLst/>
          </a:prstGeom>
          <a:noFill/>
          <a:ln/>
        </p:spPr>
        <p:txBody>
          <a:bodyPr wrap="square" rtlCol="0" anchor="ctr"/>
          <a:lstStyle/>
          <a:p>
            <a:pPr indent="0" marL="0">
              <a:buNone/>
            </a:pPr>
            <a:r>
              <a:rPr lang="en-US" sz="1800" b="1" spc="200" kern="0" dirty="0">
                <a:solidFill>
                  <a:srgbClr val="C9A84C"/>
                </a:solidFill>
                <a:latin typeface="Calibri" pitchFamily="34" charset="0"/>
                <a:ea typeface="Calibri" pitchFamily="34" charset="-122"/>
                <a:cs typeface="Calibri" pitchFamily="34" charset="-120"/>
              </a:rPr>
              <a:t>CONTACT</a:t>
            </a:r>
            <a:endParaRPr lang="en-US" sz="1800" dirty="0"/>
          </a:p>
        </p:txBody>
      </p:sp>
      <p:sp>
        <p:nvSpPr>
          <p:cNvPr id="11" name="Shape 9"/>
          <p:cNvSpPr/>
          <p:nvPr/>
        </p:nvSpPr>
        <p:spPr>
          <a:xfrm>
            <a:off x="5283200" y="1016000"/>
            <a:ext cx="6756400" cy="50800"/>
          </a:xfrm>
          <a:prstGeom prst="rect">
            <a:avLst/>
          </a:prstGeom>
          <a:solidFill>
            <a:srgbClr val="C9A84C"/>
          </a:solidFill>
          <a:ln w="12700">
            <a:solidFill>
              <a:srgbClr val="C9A84C"/>
            </a:solidFill>
            <a:prstDash val="solid"/>
          </a:ln>
        </p:spPr>
      </p:sp>
      <p:sp>
        <p:nvSpPr>
          <p:cNvPr id="12" name="Shape 10"/>
          <p:cNvSpPr/>
          <p:nvPr/>
        </p:nvSpPr>
        <p:spPr>
          <a:xfrm>
            <a:off x="5283200" y="1168400"/>
            <a:ext cx="3149600" cy="1625600"/>
          </a:xfrm>
          <a:prstGeom prst="rect">
            <a:avLst/>
          </a:prstGeom>
          <a:solidFill>
            <a:srgbClr val="162D47"/>
          </a:solidFill>
          <a:ln w="12700">
            <a:solidFill>
              <a:srgbClr val="243F63"/>
            </a:solidFill>
            <a:prstDash val="solid"/>
          </a:ln>
        </p:spPr>
      </p:sp>
      <p:sp>
        <p:nvSpPr>
          <p:cNvPr id="13" name="Text 11"/>
          <p:cNvSpPr/>
          <p:nvPr/>
        </p:nvSpPr>
        <p:spPr>
          <a:xfrm>
            <a:off x="5283200" y="1168400"/>
            <a:ext cx="3149600" cy="1625600"/>
          </a:xfrm>
          <a:prstGeom prst="rect">
            <a:avLst/>
          </a:prstGeom>
          <a:noFill/>
          <a:ln/>
        </p:spPr>
        <p:txBody>
          <a:bodyPr wrap="square" rtlCol="0" anchor="ctr"/>
          <a:lstStyle/>
          <a:p>
            <a:pPr algn="ctr" indent="0" marL="0">
              <a:buNone/>
            </a:pPr>
            <a:r>
              <a:rPr lang="en-US" sz="1100" dirty="0">
                <a:solidFill>
                  <a:srgbClr val="2C5080"/>
                </a:solidFill>
                <a:latin typeface="Calibri" pitchFamily="34" charset="0"/>
                <a:ea typeface="Calibri" pitchFamily="34" charset="-122"/>
                <a:cs typeface="Calibri" pitchFamily="34" charset="-120"/>
              </a:rPr>
              <a:t>PHOTO</a:t>
            </a:r>
            <a:endParaRPr lang="en-US" sz="1100" dirty="0"/>
          </a:p>
        </p:txBody>
      </p:sp>
      <p:sp>
        <p:nvSpPr>
          <p:cNvPr id="14" name="Shape 12"/>
          <p:cNvSpPr/>
          <p:nvPr/>
        </p:nvSpPr>
        <p:spPr>
          <a:xfrm>
            <a:off x="5283200" y="2794000"/>
            <a:ext cx="3149600" cy="50800"/>
          </a:xfrm>
          <a:prstGeom prst="rect">
            <a:avLst/>
          </a:prstGeom>
          <a:solidFill>
            <a:srgbClr val="C9A84C"/>
          </a:solidFill>
          <a:ln w="12700">
            <a:solidFill>
              <a:srgbClr val="C9A84C"/>
            </a:solidFill>
            <a:prstDash val="solid"/>
          </a:ln>
        </p:spPr>
      </p:sp>
      <p:sp>
        <p:nvSpPr>
          <p:cNvPr id="15" name="Text 13"/>
          <p:cNvSpPr/>
          <p:nvPr/>
        </p:nvSpPr>
        <p:spPr>
          <a:xfrm>
            <a:off x="5283200" y="2895600"/>
            <a:ext cx="3149600" cy="355600"/>
          </a:xfrm>
          <a:prstGeom prst="rect">
            <a:avLst/>
          </a:prstGeom>
          <a:noFill/>
          <a:ln/>
        </p:spPr>
        <p:txBody>
          <a:bodyPr wrap="square" rtlCol="0" anchor="ctr">
            <a:normAutofit/>
          </a:bodyPr>
          <a:lstStyle/>
          <a:p>
            <a:pPr indent="0" marL="0">
              <a:buNone/>
            </a:pPr>
            <a:r>
              <a:rPr lang="en-US" sz="1800" b="1" dirty="0">
                <a:solidFill>
                  <a:srgbClr val="FFFFFF"/>
                </a:solidFill>
                <a:latin typeface="Calibri" pitchFamily="34" charset="0"/>
                <a:ea typeface="Calibri" pitchFamily="34" charset="-122"/>
                <a:cs typeface="Calibri" pitchFamily="34" charset="-120"/>
              </a:rPr>
              <a:t>John Smith</a:t>
            </a:r>
            <a:endParaRPr lang="en-US" sz="1800" dirty="0"/>
          </a:p>
        </p:txBody>
      </p:sp>
      <p:sp>
        <p:nvSpPr>
          <p:cNvPr id="16" name="Text 14"/>
          <p:cNvSpPr/>
          <p:nvPr/>
        </p:nvSpPr>
        <p:spPr>
          <a:xfrm>
            <a:off x="5283200" y="3251200"/>
            <a:ext cx="3149600" cy="254000"/>
          </a:xfrm>
          <a:prstGeom prst="rect">
            <a:avLst/>
          </a:prstGeom>
          <a:noFill/>
          <a:ln/>
        </p:spPr>
        <p:txBody>
          <a:bodyPr wrap="square" rtlCol="0" anchor="ctr"/>
          <a:lstStyle/>
          <a:p>
            <a:pPr indent="0" marL="0">
              <a:buNone/>
            </a:pPr>
            <a:r>
              <a:rPr lang="en-US" sz="1100" dirty="0">
                <a:solidFill>
                  <a:srgbClr val="C9A84C"/>
                </a:solidFill>
                <a:latin typeface="Calibri" pitchFamily="34" charset="0"/>
                <a:ea typeface="Calibri" pitchFamily="34" charset="-122"/>
                <a:cs typeface="Calibri" pitchFamily="34" charset="-120"/>
              </a:rPr>
              <a:t>Vice President, Investment Sales</a:t>
            </a:r>
            <a:endParaRPr lang="en-US" sz="1100" dirty="0"/>
          </a:p>
        </p:txBody>
      </p:sp>
      <p:sp>
        <p:nvSpPr>
          <p:cNvPr id="17" name="Text 15"/>
          <p:cNvSpPr/>
          <p:nvPr/>
        </p:nvSpPr>
        <p:spPr>
          <a:xfrm>
            <a:off x="5283200" y="3606800"/>
            <a:ext cx="3149600" cy="304800"/>
          </a:xfrm>
          <a:prstGeom prst="rect">
            <a:avLst/>
          </a:prstGeom>
          <a:noFill/>
          <a:ln/>
        </p:spPr>
        <p:txBody>
          <a:bodyPr wrap="square" rtlCol="0" anchor="ctr"/>
          <a:lstStyle/>
          <a:p>
            <a:pPr indent="0" marL="0">
              <a:buNone/>
            </a:pPr>
            <a:r>
              <a:rPr lang="en-US" sz="1300" dirty="0">
                <a:solidFill>
                  <a:srgbClr val="FFFFFF"/>
                </a:solidFill>
                <a:latin typeface="Georgia" pitchFamily="34" charset="0"/>
                <a:ea typeface="Georgia" pitchFamily="34" charset="-122"/>
                <a:cs typeface="Georgia" pitchFamily="34" charset="-120"/>
              </a:rPr>
              <a:t>✆  (303) 555-1234</a:t>
            </a:r>
            <a:endParaRPr lang="en-US" sz="1300" dirty="0"/>
          </a:p>
        </p:txBody>
      </p:sp>
      <p:sp>
        <p:nvSpPr>
          <p:cNvPr id="18" name="Text 16"/>
          <p:cNvSpPr/>
          <p:nvPr/>
        </p:nvSpPr>
        <p:spPr>
          <a:xfrm>
            <a:off x="5283200" y="3911600"/>
            <a:ext cx="3149600" cy="254000"/>
          </a:xfrm>
          <a:prstGeom prst="rect">
            <a:avLst/>
          </a:prstGeom>
          <a:noFill/>
          <a:ln/>
        </p:spPr>
        <p:txBody>
          <a:bodyPr wrap="square" rtlCol="0" anchor="ctr"/>
          <a:lstStyle/>
          <a:p>
            <a:pPr indent="0" marL="0">
              <a:buNone/>
            </a:pPr>
            <a:r>
              <a:rPr lang="en-US" sz="1100" dirty="0">
                <a:solidFill>
                  <a:srgbClr val="7AADCC"/>
                </a:solidFill>
                <a:latin typeface="Calibri" pitchFamily="34" charset="0"/>
                <a:ea typeface="Calibri" pitchFamily="34" charset="-122"/>
                <a:cs typeface="Calibri" pitchFamily="34" charset="-120"/>
              </a:rPr>
              <a:t>jsmith@gatewayre.com</a:t>
            </a:r>
            <a:endParaRPr lang="en-US" sz="1100" dirty="0"/>
          </a:p>
        </p:txBody>
      </p:sp>
      <p:sp>
        <p:nvSpPr>
          <p:cNvPr id="19" name="Shape 17"/>
          <p:cNvSpPr/>
          <p:nvPr/>
        </p:nvSpPr>
        <p:spPr>
          <a:xfrm>
            <a:off x="8686800" y="1168400"/>
            <a:ext cx="3149600" cy="1625600"/>
          </a:xfrm>
          <a:prstGeom prst="rect">
            <a:avLst/>
          </a:prstGeom>
          <a:solidFill>
            <a:srgbClr val="162D47"/>
          </a:solidFill>
          <a:ln w="12700">
            <a:solidFill>
              <a:srgbClr val="243F63"/>
            </a:solidFill>
            <a:prstDash val="solid"/>
          </a:ln>
        </p:spPr>
      </p:sp>
      <p:sp>
        <p:nvSpPr>
          <p:cNvPr id="20" name="Text 18"/>
          <p:cNvSpPr/>
          <p:nvPr/>
        </p:nvSpPr>
        <p:spPr>
          <a:xfrm>
            <a:off x="8686800" y="1168400"/>
            <a:ext cx="3149600" cy="1625600"/>
          </a:xfrm>
          <a:prstGeom prst="rect">
            <a:avLst/>
          </a:prstGeom>
          <a:noFill/>
          <a:ln/>
        </p:spPr>
        <p:txBody>
          <a:bodyPr wrap="square" rtlCol="0" anchor="ctr"/>
          <a:lstStyle/>
          <a:p>
            <a:pPr algn="ctr" indent="0" marL="0">
              <a:buNone/>
            </a:pPr>
            <a:r>
              <a:rPr lang="en-US" sz="1100" dirty="0">
                <a:solidFill>
                  <a:srgbClr val="2C5080"/>
                </a:solidFill>
                <a:latin typeface="Calibri" pitchFamily="34" charset="0"/>
                <a:ea typeface="Calibri" pitchFamily="34" charset="-122"/>
                <a:cs typeface="Calibri" pitchFamily="34" charset="-120"/>
              </a:rPr>
              <a:t>PHOTO</a:t>
            </a:r>
            <a:endParaRPr lang="en-US" sz="1100" dirty="0"/>
          </a:p>
        </p:txBody>
      </p:sp>
      <p:sp>
        <p:nvSpPr>
          <p:cNvPr id="21" name="Shape 19"/>
          <p:cNvSpPr/>
          <p:nvPr/>
        </p:nvSpPr>
        <p:spPr>
          <a:xfrm>
            <a:off x="8686800" y="2794000"/>
            <a:ext cx="3149600" cy="50800"/>
          </a:xfrm>
          <a:prstGeom prst="rect">
            <a:avLst/>
          </a:prstGeom>
          <a:solidFill>
            <a:srgbClr val="C9A84C"/>
          </a:solidFill>
          <a:ln w="12700">
            <a:solidFill>
              <a:srgbClr val="C9A84C"/>
            </a:solidFill>
            <a:prstDash val="solid"/>
          </a:ln>
        </p:spPr>
      </p:sp>
      <p:sp>
        <p:nvSpPr>
          <p:cNvPr id="22" name="Text 20"/>
          <p:cNvSpPr/>
          <p:nvPr/>
        </p:nvSpPr>
        <p:spPr>
          <a:xfrm>
            <a:off x="8686800" y="2895600"/>
            <a:ext cx="3149600" cy="355600"/>
          </a:xfrm>
          <a:prstGeom prst="rect">
            <a:avLst/>
          </a:prstGeom>
          <a:noFill/>
          <a:ln/>
        </p:spPr>
        <p:txBody>
          <a:bodyPr wrap="square" rtlCol="0" anchor="ctr">
            <a:normAutofit/>
          </a:bodyPr>
          <a:lstStyle/>
          <a:p>
            <a:pPr indent="0" marL="0">
              <a:buNone/>
            </a:pPr>
            <a:r>
              <a:rPr lang="en-US" sz="1800" b="1" dirty="0">
                <a:solidFill>
                  <a:srgbClr val="FFFFFF"/>
                </a:solidFill>
                <a:latin typeface="Calibri" pitchFamily="34" charset="0"/>
                <a:ea typeface="Calibri" pitchFamily="34" charset="-122"/>
                <a:cs typeface="Calibri" pitchFamily="34" charset="-120"/>
              </a:rPr>
              <a:t>Sarah Johnson</a:t>
            </a:r>
            <a:endParaRPr lang="en-US" sz="1800" dirty="0"/>
          </a:p>
        </p:txBody>
      </p:sp>
      <p:sp>
        <p:nvSpPr>
          <p:cNvPr id="23" name="Text 21"/>
          <p:cNvSpPr/>
          <p:nvPr/>
        </p:nvSpPr>
        <p:spPr>
          <a:xfrm>
            <a:off x="8686800" y="3251200"/>
            <a:ext cx="3149600" cy="254000"/>
          </a:xfrm>
          <a:prstGeom prst="rect">
            <a:avLst/>
          </a:prstGeom>
          <a:noFill/>
          <a:ln/>
        </p:spPr>
        <p:txBody>
          <a:bodyPr wrap="square" rtlCol="0" anchor="ctr"/>
          <a:lstStyle/>
          <a:p>
            <a:pPr indent="0" marL="0">
              <a:buNone/>
            </a:pPr>
            <a:r>
              <a:rPr lang="en-US" sz="1100" dirty="0">
                <a:solidFill>
                  <a:srgbClr val="C9A84C"/>
                </a:solidFill>
                <a:latin typeface="Calibri" pitchFamily="34" charset="0"/>
                <a:ea typeface="Calibri" pitchFamily="34" charset="-122"/>
                <a:cs typeface="Calibri" pitchFamily="34" charset="-120"/>
              </a:rPr>
              <a:t>Associate, Investment Sales</a:t>
            </a:r>
            <a:endParaRPr lang="en-US" sz="1100" dirty="0"/>
          </a:p>
        </p:txBody>
      </p:sp>
      <p:sp>
        <p:nvSpPr>
          <p:cNvPr id="24" name="Text 22"/>
          <p:cNvSpPr/>
          <p:nvPr/>
        </p:nvSpPr>
        <p:spPr>
          <a:xfrm>
            <a:off x="8686800" y="3606800"/>
            <a:ext cx="3149600" cy="304800"/>
          </a:xfrm>
          <a:prstGeom prst="rect">
            <a:avLst/>
          </a:prstGeom>
          <a:noFill/>
          <a:ln/>
        </p:spPr>
        <p:txBody>
          <a:bodyPr wrap="square" rtlCol="0" anchor="ctr"/>
          <a:lstStyle/>
          <a:p>
            <a:pPr indent="0" marL="0">
              <a:buNone/>
            </a:pPr>
            <a:r>
              <a:rPr lang="en-US" sz="1300" dirty="0">
                <a:solidFill>
                  <a:srgbClr val="FFFFFF"/>
                </a:solidFill>
                <a:latin typeface="Georgia" pitchFamily="34" charset="0"/>
                <a:ea typeface="Georgia" pitchFamily="34" charset="-122"/>
                <a:cs typeface="Georgia" pitchFamily="34" charset="-120"/>
              </a:rPr>
              <a:t>✆  (303) 555-5678</a:t>
            </a:r>
            <a:endParaRPr lang="en-US" sz="1300" dirty="0"/>
          </a:p>
        </p:txBody>
      </p:sp>
      <p:sp>
        <p:nvSpPr>
          <p:cNvPr id="25" name="Text 23"/>
          <p:cNvSpPr/>
          <p:nvPr/>
        </p:nvSpPr>
        <p:spPr>
          <a:xfrm>
            <a:off x="8686800" y="3911600"/>
            <a:ext cx="3149600" cy="254000"/>
          </a:xfrm>
          <a:prstGeom prst="rect">
            <a:avLst/>
          </a:prstGeom>
          <a:noFill/>
          <a:ln/>
        </p:spPr>
        <p:txBody>
          <a:bodyPr wrap="square" rtlCol="0" anchor="ctr"/>
          <a:lstStyle/>
          <a:p>
            <a:pPr indent="0" marL="0">
              <a:buNone/>
            </a:pPr>
            <a:r>
              <a:rPr lang="en-US" sz="1100" dirty="0">
                <a:solidFill>
                  <a:srgbClr val="7AADCC"/>
                </a:solidFill>
                <a:latin typeface="Calibri" pitchFamily="34" charset="0"/>
                <a:ea typeface="Calibri" pitchFamily="34" charset="-122"/>
                <a:cs typeface="Calibri" pitchFamily="34" charset="-120"/>
              </a:rPr>
              <a:t>sjohnson@gatewayre.com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Gateway Real Estate Advisors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Meridian — Offering Memorandum</dc:title>
  <dc:subject>The Meridian — Offering Memorandum</dc:subject>
  <dc:creator>Gateway Real Estate Advisors</dc:creator>
  <cp:lastModifiedBy>Gateway Real Estate Advisors</cp:lastModifiedBy>
  <cp:revision>1</cp:revision>
  <dcterms:created xsi:type="dcterms:W3CDTF">2026-05-19T01:04:24Z</dcterms:created>
  <dcterms:modified xsi:type="dcterms:W3CDTF">2026-05-19T01:04:24Z</dcterms:modified>
</cp:coreProperties>
</file>